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4630400" cy="8229600"/>
  <p:notesSz cx="8229600" cy="14630400"/>
  <p:embeddedFontLst>
    <p:embeddedFont>
      <p:font typeface="Quattrocento" panose="02020502030000000404" pitchFamily="18"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8" d="100"/>
          <a:sy n="58"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32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1791185" y="-68580"/>
            <a:ext cx="16421585" cy="8298180"/>
          </a:xfrm>
          <a:prstGeom prst="rect">
            <a:avLst/>
          </a:prstGeom>
          <a:solidFill>
            <a:srgbClr val="123332"/>
          </a:solid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139077"/>
            <a:ext cx="5450086" cy="615910"/>
          </a:xfrm>
          <a:prstGeom prst="rect">
            <a:avLst/>
          </a:prstGeom>
          <a:noFill/>
          <a:ln/>
        </p:spPr>
        <p:txBody>
          <a:bodyPr wrap="none" lIns="0" tIns="0" rIns="0" bIns="0" rtlCol="0" anchor="t"/>
          <a:lstStyle/>
          <a:p>
            <a:pPr marL="0" indent="0" algn="l">
              <a:lnSpc>
                <a:spcPts val="4850"/>
              </a:lnSpc>
              <a:buNone/>
            </a:pPr>
            <a:r>
              <a:rPr lang="en-US" sz="3850" dirty="0">
                <a:solidFill>
                  <a:srgbClr val="FFD9BE"/>
                </a:solidFill>
                <a:latin typeface="Quattrocento" pitchFamily="34" charset="0"/>
                <a:ea typeface="Quattrocento" pitchFamily="34" charset="-122"/>
                <a:cs typeface="Quattrocento" pitchFamily="34" charset="-120"/>
              </a:rPr>
              <a:t>The Collector's Dilemma</a:t>
            </a:r>
            <a:endParaRPr lang="en-US" sz="3850" dirty="0"/>
          </a:p>
        </p:txBody>
      </p:sp>
      <p:sp>
        <p:nvSpPr>
          <p:cNvPr id="4" name="Text 1"/>
          <p:cNvSpPr/>
          <p:nvPr/>
        </p:nvSpPr>
        <p:spPr>
          <a:xfrm>
            <a:off x="6324124" y="3069074"/>
            <a:ext cx="7313533" cy="492681"/>
          </a:xfrm>
          <a:prstGeom prst="rect">
            <a:avLst/>
          </a:prstGeom>
          <a:noFill/>
          <a:ln/>
        </p:spPr>
        <p:txBody>
          <a:bodyPr wrap="none" lIns="0" tIns="0" rIns="0" bIns="0" rtlCol="0" anchor="t"/>
          <a:lstStyle/>
          <a:p>
            <a:pPr marL="0" indent="0" algn="l">
              <a:lnSpc>
                <a:spcPts val="3850"/>
              </a:lnSpc>
              <a:buNone/>
            </a:pPr>
            <a:r>
              <a:rPr lang="en-US" sz="3100" dirty="0">
                <a:solidFill>
                  <a:srgbClr val="FFD9BE"/>
                </a:solidFill>
                <a:latin typeface="Quattrocento" pitchFamily="34" charset="0"/>
                <a:ea typeface="Quattrocento" pitchFamily="34" charset="-122"/>
                <a:cs typeface="Quattrocento" pitchFamily="34" charset="-120"/>
              </a:rPr>
              <a:t>The Tyranny of the Almost-Complete Set.</a:t>
            </a:r>
            <a:endParaRPr lang="en-US" sz="3100" dirty="0"/>
          </a:p>
        </p:txBody>
      </p:sp>
      <p:sp>
        <p:nvSpPr>
          <p:cNvPr id="5" name="Text 2"/>
          <p:cNvSpPr/>
          <p:nvPr/>
        </p:nvSpPr>
        <p:spPr>
          <a:xfrm>
            <a:off x="6324124" y="3875842"/>
            <a:ext cx="7468553" cy="335042"/>
          </a:xfrm>
          <a:prstGeom prst="rect">
            <a:avLst/>
          </a:prstGeom>
          <a:noFill/>
          <a:ln/>
        </p:spPr>
        <p:txBody>
          <a:bodyPr wrap="none" lIns="0" tIns="0" rIns="0" bIns="0" rtlCol="0" anchor="t"/>
          <a:lstStyle/>
          <a:p>
            <a:pPr marL="0" indent="0" algn="r">
              <a:lnSpc>
                <a:spcPts val="2600"/>
              </a:lnSpc>
              <a:buNone/>
            </a:pPr>
            <a:endParaRPr lang="en-US" sz="1600" dirty="0"/>
          </a:p>
        </p:txBody>
      </p:sp>
      <p:sp>
        <p:nvSpPr>
          <p:cNvPr id="6" name="Text 3"/>
          <p:cNvSpPr/>
          <p:nvPr/>
        </p:nvSpPr>
        <p:spPr>
          <a:xfrm>
            <a:off x="6324124" y="4446508"/>
            <a:ext cx="7468553" cy="335042"/>
          </a:xfrm>
          <a:prstGeom prst="rect">
            <a:avLst/>
          </a:prstGeom>
          <a:noFill/>
          <a:ln/>
        </p:spPr>
        <p:txBody>
          <a:bodyPr wrap="none" lIns="0" tIns="0" rIns="0" bIns="0" rtlCol="0" anchor="t"/>
          <a:lstStyle/>
          <a:p>
            <a:pPr marL="0" indent="0" algn="l">
              <a:lnSpc>
                <a:spcPts val="2600"/>
              </a:lnSpc>
              <a:buNone/>
            </a:pPr>
            <a:endParaRPr lang="en-US" sz="1600" dirty="0"/>
          </a:p>
        </p:txBody>
      </p:sp>
      <p:sp>
        <p:nvSpPr>
          <p:cNvPr id="7" name="Text 4"/>
          <p:cNvSpPr/>
          <p:nvPr/>
        </p:nvSpPr>
        <p:spPr>
          <a:xfrm>
            <a:off x="6324124" y="5017175"/>
            <a:ext cx="7468553" cy="418862"/>
          </a:xfrm>
          <a:prstGeom prst="rect">
            <a:avLst/>
          </a:prstGeom>
          <a:noFill/>
          <a:ln/>
        </p:spPr>
        <p:txBody>
          <a:bodyPr wrap="none" lIns="0" tIns="0" rIns="0" bIns="0" rtlCol="0" anchor="t"/>
          <a:lstStyle/>
          <a:p>
            <a:pPr marL="0" indent="0" algn="r">
              <a:lnSpc>
                <a:spcPts val="3250"/>
              </a:lnSpc>
              <a:buNone/>
            </a:pPr>
            <a:r>
              <a:rPr lang="en-US" sz="2050" b="1" dirty="0">
                <a:solidFill>
                  <a:srgbClr val="FFFFFF"/>
                </a:solidFill>
                <a:latin typeface="Quattrocento" pitchFamily="34" charset="0"/>
                <a:ea typeface="Quattrocento" pitchFamily="34" charset="-122"/>
                <a:cs typeface="Quattrocento" pitchFamily="34" charset="-120"/>
              </a:rPr>
              <a:t>From,</a:t>
            </a:r>
            <a:endParaRPr lang="en-US" sz="2050" dirty="0"/>
          </a:p>
        </p:txBody>
      </p:sp>
      <p:sp>
        <p:nvSpPr>
          <p:cNvPr id="8" name="Text 5"/>
          <p:cNvSpPr/>
          <p:nvPr/>
        </p:nvSpPr>
        <p:spPr>
          <a:xfrm>
            <a:off x="6324124" y="5671661"/>
            <a:ext cx="7468553" cy="418862"/>
          </a:xfrm>
          <a:prstGeom prst="rect">
            <a:avLst/>
          </a:prstGeom>
          <a:noFill/>
          <a:ln/>
        </p:spPr>
        <p:txBody>
          <a:bodyPr wrap="none" lIns="0" tIns="0" rIns="0" bIns="0" rtlCol="0" anchor="t"/>
          <a:lstStyle/>
          <a:p>
            <a:pPr marL="0" indent="0" algn="r">
              <a:lnSpc>
                <a:spcPts val="3250"/>
              </a:lnSpc>
              <a:buNone/>
            </a:pPr>
            <a:r>
              <a:rPr lang="en-US" sz="2050" dirty="0">
                <a:solidFill>
                  <a:srgbClr val="F9EEE7"/>
                </a:solidFill>
                <a:latin typeface="Quattrocento" pitchFamily="34" charset="0"/>
                <a:ea typeface="Quattrocento" pitchFamily="34" charset="-122"/>
                <a:cs typeface="Quattrocento" pitchFamily="34" charset="-120"/>
              </a:rPr>
              <a:t>-</a:t>
            </a:r>
            <a:r>
              <a:rPr lang="en-US" sz="2050" b="1" dirty="0">
                <a:solidFill>
                  <a:srgbClr val="F9EEE7"/>
                </a:solidFill>
                <a:latin typeface="Quattrocento" pitchFamily="34" charset="0"/>
                <a:ea typeface="Quattrocento" pitchFamily="34" charset="-122"/>
                <a:cs typeface="Quattrocento" pitchFamily="34" charset="-120"/>
              </a:rPr>
              <a:t>Sowmya. J</a:t>
            </a:r>
            <a:endParaRPr lang="en-US" sz="2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08184" y="663893"/>
            <a:ext cx="5749290" cy="718661"/>
          </a:xfrm>
          <a:prstGeom prst="rect">
            <a:avLst/>
          </a:prstGeom>
          <a:noFill/>
          <a:ln/>
        </p:spPr>
        <p:txBody>
          <a:bodyPr wrap="none" lIns="0" tIns="0" rIns="0" bIns="0" rtlCol="0" anchor="t"/>
          <a:lstStyle/>
          <a:p>
            <a:pPr marL="0" indent="0" algn="l">
              <a:lnSpc>
                <a:spcPts val="5650"/>
              </a:lnSpc>
              <a:buNone/>
            </a:pPr>
            <a:r>
              <a:rPr lang="en-US" sz="4500" dirty="0">
                <a:solidFill>
                  <a:srgbClr val="FFD9BE"/>
                </a:solidFill>
                <a:latin typeface="Quattrocento" pitchFamily="34" charset="0"/>
                <a:ea typeface="Quattrocento" pitchFamily="34" charset="-122"/>
                <a:cs typeface="Quattrocento" pitchFamily="34" charset="-120"/>
              </a:rPr>
              <a:t>INPUT</a:t>
            </a:r>
            <a:endParaRPr lang="en-US" sz="4500" dirty="0"/>
          </a:p>
        </p:txBody>
      </p:sp>
      <p:sp>
        <p:nvSpPr>
          <p:cNvPr id="3" name="Text 1"/>
          <p:cNvSpPr/>
          <p:nvPr/>
        </p:nvSpPr>
        <p:spPr>
          <a:xfrm>
            <a:off x="708184" y="1559600"/>
            <a:ext cx="2499717"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Player Choices</a:t>
            </a:r>
            <a:endParaRPr lang="en-US" sz="1950" dirty="0"/>
          </a:p>
        </p:txBody>
      </p:sp>
      <p:sp>
        <p:nvSpPr>
          <p:cNvPr id="4" name="Text 2"/>
          <p:cNvSpPr/>
          <p:nvPr/>
        </p:nvSpPr>
        <p:spPr>
          <a:xfrm>
            <a:off x="708184" y="2049185"/>
            <a:ext cx="2499717"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Reward Designs</a:t>
            </a:r>
            <a:endParaRPr lang="en-US" sz="1950" dirty="0"/>
          </a:p>
        </p:txBody>
      </p:sp>
      <p:sp>
        <p:nvSpPr>
          <p:cNvPr id="5" name="Text 3"/>
          <p:cNvSpPr/>
          <p:nvPr/>
        </p:nvSpPr>
        <p:spPr>
          <a:xfrm>
            <a:off x="708184" y="2538770"/>
            <a:ext cx="2557105"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Simulation Parameters</a:t>
            </a:r>
            <a:endParaRPr lang="en-US" sz="1950" dirty="0"/>
          </a:p>
        </p:txBody>
      </p:sp>
      <p:sp>
        <p:nvSpPr>
          <p:cNvPr id="6" name="Text 4"/>
          <p:cNvSpPr/>
          <p:nvPr/>
        </p:nvSpPr>
        <p:spPr>
          <a:xfrm>
            <a:off x="7538799" y="663893"/>
            <a:ext cx="5749290" cy="718661"/>
          </a:xfrm>
          <a:prstGeom prst="rect">
            <a:avLst/>
          </a:prstGeom>
          <a:noFill/>
          <a:ln/>
        </p:spPr>
        <p:txBody>
          <a:bodyPr wrap="none" lIns="0" tIns="0" rIns="0" bIns="0" rtlCol="0" anchor="t"/>
          <a:lstStyle/>
          <a:p>
            <a:pPr marL="0" indent="0" algn="l">
              <a:lnSpc>
                <a:spcPts val="5650"/>
              </a:lnSpc>
              <a:buNone/>
            </a:pPr>
            <a:r>
              <a:rPr lang="en-US" sz="4500" dirty="0">
                <a:solidFill>
                  <a:srgbClr val="FFD9BE"/>
                </a:solidFill>
                <a:latin typeface="Quattrocento" pitchFamily="34" charset="0"/>
                <a:ea typeface="Quattrocento" pitchFamily="34" charset="-122"/>
                <a:cs typeface="Quattrocento" pitchFamily="34" charset="-120"/>
              </a:rPr>
              <a:t>OUTPUT</a:t>
            </a:r>
            <a:endParaRPr lang="en-US" sz="4500" dirty="0"/>
          </a:p>
        </p:txBody>
      </p:sp>
      <p:sp>
        <p:nvSpPr>
          <p:cNvPr id="7" name="Text 5"/>
          <p:cNvSpPr/>
          <p:nvPr/>
        </p:nvSpPr>
        <p:spPr>
          <a:xfrm>
            <a:off x="7538799" y="1559600"/>
            <a:ext cx="2888337"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Attempts to Complete Set</a:t>
            </a:r>
            <a:endParaRPr lang="en-US" sz="1950" dirty="0"/>
          </a:p>
        </p:txBody>
      </p:sp>
      <p:sp>
        <p:nvSpPr>
          <p:cNvPr id="8" name="Text 6"/>
          <p:cNvSpPr/>
          <p:nvPr/>
        </p:nvSpPr>
        <p:spPr>
          <a:xfrm>
            <a:off x="7538799" y="2049185"/>
            <a:ext cx="2499717"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Total Cost</a:t>
            </a:r>
            <a:endParaRPr lang="en-US" sz="1950" dirty="0"/>
          </a:p>
        </p:txBody>
      </p:sp>
      <p:sp>
        <p:nvSpPr>
          <p:cNvPr id="9" name="Text 7"/>
          <p:cNvSpPr/>
          <p:nvPr/>
        </p:nvSpPr>
        <p:spPr>
          <a:xfrm>
            <a:off x="7538799" y="2538770"/>
            <a:ext cx="3190637" cy="312539"/>
          </a:xfrm>
          <a:prstGeom prst="rect">
            <a:avLst/>
          </a:prstGeom>
          <a:noFill/>
          <a:ln/>
        </p:spPr>
        <p:txBody>
          <a:bodyPr wrap="none" lIns="0" tIns="0" rIns="0" bIns="0" rtlCol="0" anchor="t"/>
          <a:lstStyle/>
          <a:p>
            <a:pPr marL="0" indent="0" algn="l">
              <a:lnSpc>
                <a:spcPts val="2450"/>
              </a:lnSpc>
              <a:buNone/>
            </a:pPr>
            <a:r>
              <a:rPr lang="en-US" sz="1950" dirty="0">
                <a:solidFill>
                  <a:srgbClr val="FFFFFF"/>
                </a:solidFill>
                <a:latin typeface="Quattrocento" pitchFamily="34" charset="0"/>
                <a:ea typeface="Quattrocento" pitchFamily="34" charset="-122"/>
                <a:cs typeface="Quattrocento" pitchFamily="34" charset="-120"/>
              </a:rPr>
              <a:t>Actionable Business Insights</a:t>
            </a:r>
            <a:endParaRPr lang="en-US" sz="1950" dirty="0"/>
          </a:p>
        </p:txBody>
      </p:sp>
      <p:pic>
        <p:nvPicPr>
          <p:cNvPr id="10" name="Image 0" descr="preencoded.png"/>
          <p:cNvPicPr>
            <a:picLocks noChangeAspect="1"/>
          </p:cNvPicPr>
          <p:nvPr/>
        </p:nvPicPr>
        <p:blipFill>
          <a:blip r:embed="rId3"/>
          <a:stretch>
            <a:fillRect/>
          </a:stretch>
        </p:blipFill>
        <p:spPr>
          <a:xfrm>
            <a:off x="1772213" y="3028355"/>
            <a:ext cx="10408920" cy="4922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8789" y="542330"/>
            <a:ext cx="4640461" cy="580073"/>
          </a:xfrm>
          <a:prstGeom prst="rect">
            <a:avLst/>
          </a:prstGeom>
          <a:noFill/>
          <a:ln/>
        </p:spPr>
        <p:txBody>
          <a:bodyPr wrap="none" lIns="0" tIns="0" rIns="0" bIns="0" rtlCol="0" anchor="t"/>
          <a:lstStyle/>
          <a:p>
            <a:pPr marL="0" indent="0" algn="l">
              <a:lnSpc>
                <a:spcPts val="4550"/>
              </a:lnSpc>
              <a:buNone/>
            </a:pPr>
            <a:r>
              <a:rPr lang="en-US" sz="3650" dirty="0">
                <a:solidFill>
                  <a:srgbClr val="FFD9BE"/>
                </a:solidFill>
                <a:latin typeface="Quattrocento" pitchFamily="34" charset="0"/>
                <a:ea typeface="Quattrocento" pitchFamily="34" charset="-122"/>
                <a:cs typeface="Quattrocento" pitchFamily="34" charset="-120"/>
              </a:rPr>
              <a:t>Who Is This For?</a:t>
            </a:r>
            <a:endParaRPr lang="en-US" sz="3650" dirty="0"/>
          </a:p>
        </p:txBody>
      </p:sp>
      <p:pic>
        <p:nvPicPr>
          <p:cNvPr id="3" name="Image 0" descr="preencoded.png"/>
          <p:cNvPicPr>
            <a:picLocks noChangeAspect="1"/>
          </p:cNvPicPr>
          <p:nvPr/>
        </p:nvPicPr>
        <p:blipFill>
          <a:blip r:embed="rId3"/>
          <a:stretch>
            <a:fillRect/>
          </a:stretch>
        </p:blipFill>
        <p:spPr>
          <a:xfrm>
            <a:off x="788789" y="1516737"/>
            <a:ext cx="6403181" cy="3957399"/>
          </a:xfrm>
          <a:prstGeom prst="rect">
            <a:avLst/>
          </a:prstGeom>
        </p:spPr>
      </p:pic>
      <p:sp>
        <p:nvSpPr>
          <p:cNvPr id="4" name="Text 1"/>
          <p:cNvSpPr/>
          <p:nvPr/>
        </p:nvSpPr>
        <p:spPr>
          <a:xfrm>
            <a:off x="788789" y="5671304"/>
            <a:ext cx="6403181" cy="315397"/>
          </a:xfrm>
          <a:prstGeom prst="rect">
            <a:avLst/>
          </a:prstGeom>
          <a:noFill/>
          <a:ln/>
        </p:spPr>
        <p:txBody>
          <a:bodyPr wrap="none" lIns="0" tIns="0" rIns="0" bIns="0" rtlCol="0" anchor="t"/>
          <a:lstStyle/>
          <a:p>
            <a:pPr marL="0" indent="0" algn="l">
              <a:lnSpc>
                <a:spcPts val="2450"/>
              </a:lnSpc>
              <a:buNone/>
            </a:pPr>
            <a:endParaRPr lang="en-US" sz="1550" dirty="0"/>
          </a:p>
        </p:txBody>
      </p:sp>
      <p:sp>
        <p:nvSpPr>
          <p:cNvPr id="5" name="Text 2"/>
          <p:cNvSpPr/>
          <p:nvPr/>
        </p:nvSpPr>
        <p:spPr>
          <a:xfrm>
            <a:off x="788789" y="6104930"/>
            <a:ext cx="4640461" cy="595313"/>
          </a:xfrm>
          <a:prstGeom prst="rect">
            <a:avLst/>
          </a:prstGeom>
          <a:noFill/>
          <a:ln/>
        </p:spPr>
        <p:txBody>
          <a:bodyPr wrap="none" lIns="0" tIns="0" rIns="0" bIns="0" rtlCol="0" anchor="t"/>
          <a:lstStyle/>
          <a:p>
            <a:pPr marL="0" indent="0" algn="l">
              <a:lnSpc>
                <a:spcPts val="4550"/>
              </a:lnSpc>
              <a:buNone/>
            </a:pPr>
            <a:r>
              <a:rPr lang="en-US" sz="3650" dirty="0">
                <a:solidFill>
                  <a:srgbClr val="F9EEE7"/>
                </a:solidFill>
                <a:latin typeface="Quattrocento" pitchFamily="34" charset="0"/>
                <a:ea typeface="Quattrocento" pitchFamily="34" charset="-122"/>
                <a:cs typeface="Quattrocento" pitchFamily="34" charset="-120"/>
              </a:rPr>
              <a:t>The Player </a:t>
            </a:r>
            <a:r>
              <a:rPr lang="en-US" sz="3650" dirty="0">
                <a:solidFill>
                  <a:srgbClr val="000000"/>
                </a:solidFill>
                <a:latin typeface="Quattrocento" pitchFamily="34" charset="0"/>
                <a:ea typeface="Quattrocento" pitchFamily="34" charset="-122"/>
                <a:cs typeface="Quattrocento" pitchFamily="34" charset="-120"/>
              </a:rPr>
              <a:t>🎮</a:t>
            </a:r>
            <a:endParaRPr lang="en-US" sz="3650" dirty="0"/>
          </a:p>
        </p:txBody>
      </p:sp>
      <p:sp>
        <p:nvSpPr>
          <p:cNvPr id="6" name="Text 3"/>
          <p:cNvSpPr/>
          <p:nvPr/>
        </p:nvSpPr>
        <p:spPr>
          <a:xfrm>
            <a:off x="788789" y="6818471"/>
            <a:ext cx="6403181" cy="315397"/>
          </a:xfrm>
          <a:prstGeom prst="rect">
            <a:avLst/>
          </a:prstGeom>
          <a:noFill/>
          <a:ln/>
        </p:spPr>
        <p:txBody>
          <a:bodyPr wrap="none" lIns="0" tIns="0" rIns="0" bIns="0" rtlCol="0" anchor="t"/>
          <a:lstStyle/>
          <a:p>
            <a:pPr marL="0" indent="0" algn="l">
              <a:lnSpc>
                <a:spcPts val="2450"/>
              </a:lnSpc>
              <a:buNone/>
            </a:pPr>
            <a:endParaRPr lang="en-US" sz="1550" dirty="0"/>
          </a:p>
        </p:txBody>
      </p:sp>
      <p:sp>
        <p:nvSpPr>
          <p:cNvPr id="7" name="Text 4"/>
          <p:cNvSpPr/>
          <p:nvPr/>
        </p:nvSpPr>
        <p:spPr>
          <a:xfrm>
            <a:off x="788789" y="7252097"/>
            <a:ext cx="6403181" cy="696039"/>
          </a:xfrm>
          <a:prstGeom prst="rect">
            <a:avLst/>
          </a:prstGeom>
          <a:noFill/>
          <a:ln/>
        </p:spPr>
        <p:txBody>
          <a:bodyPr wrap="square" lIns="0" tIns="0" rIns="0" bIns="0" rtlCol="0" anchor="t"/>
          <a:lstStyle/>
          <a:p>
            <a:pPr marL="0" indent="0" algn="l">
              <a:lnSpc>
                <a:spcPts val="2700"/>
              </a:lnSpc>
              <a:buNone/>
            </a:pPr>
            <a:r>
              <a:rPr lang="en-US" sz="2150" dirty="0">
                <a:solidFill>
                  <a:srgbClr val="F9EEE7"/>
                </a:solidFill>
                <a:latin typeface="Quattrocento" pitchFamily="34" charset="0"/>
                <a:ea typeface="Quattrocento" pitchFamily="34" charset="-122"/>
                <a:cs typeface="Quattrocento" pitchFamily="34" charset="-120"/>
              </a:rPr>
              <a:t>Experiences the psychology of "the chase" in a fun, interactive game.</a:t>
            </a:r>
            <a:endParaRPr lang="en-US" sz="2150" dirty="0"/>
          </a:p>
        </p:txBody>
      </p:sp>
      <p:pic>
        <p:nvPicPr>
          <p:cNvPr id="8" name="Image 1" descr="preencoded.png"/>
          <p:cNvPicPr>
            <a:picLocks noChangeAspect="1"/>
          </p:cNvPicPr>
          <p:nvPr/>
        </p:nvPicPr>
        <p:blipFill>
          <a:blip r:embed="rId4"/>
          <a:stretch>
            <a:fillRect/>
          </a:stretch>
        </p:blipFill>
        <p:spPr>
          <a:xfrm>
            <a:off x="7438430" y="1516737"/>
            <a:ext cx="6403181" cy="3957399"/>
          </a:xfrm>
          <a:prstGeom prst="rect">
            <a:avLst/>
          </a:prstGeom>
        </p:spPr>
      </p:pic>
      <p:sp>
        <p:nvSpPr>
          <p:cNvPr id="9" name="Text 5"/>
          <p:cNvSpPr/>
          <p:nvPr/>
        </p:nvSpPr>
        <p:spPr>
          <a:xfrm>
            <a:off x="7438430" y="5671304"/>
            <a:ext cx="6403181" cy="315397"/>
          </a:xfrm>
          <a:prstGeom prst="rect">
            <a:avLst/>
          </a:prstGeom>
          <a:noFill/>
          <a:ln/>
        </p:spPr>
        <p:txBody>
          <a:bodyPr wrap="none" lIns="0" tIns="0" rIns="0" bIns="0" rtlCol="0" anchor="t"/>
          <a:lstStyle/>
          <a:p>
            <a:pPr marL="0" indent="0" algn="l">
              <a:lnSpc>
                <a:spcPts val="2450"/>
              </a:lnSpc>
              <a:buNone/>
            </a:pPr>
            <a:endParaRPr lang="en-US" sz="1550" dirty="0"/>
          </a:p>
        </p:txBody>
      </p:sp>
      <p:sp>
        <p:nvSpPr>
          <p:cNvPr id="10" name="Text 6"/>
          <p:cNvSpPr/>
          <p:nvPr/>
        </p:nvSpPr>
        <p:spPr>
          <a:xfrm>
            <a:off x="7438430" y="6104930"/>
            <a:ext cx="5448657" cy="595313"/>
          </a:xfrm>
          <a:prstGeom prst="rect">
            <a:avLst/>
          </a:prstGeom>
          <a:noFill/>
          <a:ln/>
        </p:spPr>
        <p:txBody>
          <a:bodyPr wrap="none" lIns="0" tIns="0" rIns="0" bIns="0" rtlCol="0" anchor="t"/>
          <a:lstStyle/>
          <a:p>
            <a:pPr marL="0" indent="0" algn="l">
              <a:lnSpc>
                <a:spcPts val="4550"/>
              </a:lnSpc>
              <a:buNone/>
            </a:pPr>
            <a:r>
              <a:rPr lang="en-US" sz="3650" dirty="0">
                <a:solidFill>
                  <a:srgbClr val="F9EEE7"/>
                </a:solidFill>
                <a:latin typeface="Quattrocento" pitchFamily="34" charset="0"/>
                <a:ea typeface="Quattrocento" pitchFamily="34" charset="-122"/>
                <a:cs typeface="Quattrocento" pitchFamily="34" charset="-120"/>
              </a:rPr>
              <a:t>The Business Strategist </a:t>
            </a:r>
            <a:r>
              <a:rPr lang="en-US" sz="3650" dirty="0">
                <a:solidFill>
                  <a:srgbClr val="000000"/>
                </a:solidFill>
                <a:latin typeface="Quattrocento" pitchFamily="34" charset="0"/>
                <a:ea typeface="Quattrocento" pitchFamily="34" charset="-122"/>
                <a:cs typeface="Quattrocento" pitchFamily="34" charset="-120"/>
              </a:rPr>
              <a:t>📊</a:t>
            </a:r>
            <a:endParaRPr lang="en-US" sz="3650" dirty="0"/>
          </a:p>
        </p:txBody>
      </p:sp>
      <p:sp>
        <p:nvSpPr>
          <p:cNvPr id="11" name="Text 7"/>
          <p:cNvSpPr/>
          <p:nvPr/>
        </p:nvSpPr>
        <p:spPr>
          <a:xfrm>
            <a:off x="7438430" y="6818471"/>
            <a:ext cx="6403181" cy="315397"/>
          </a:xfrm>
          <a:prstGeom prst="rect">
            <a:avLst/>
          </a:prstGeom>
          <a:noFill/>
          <a:ln/>
        </p:spPr>
        <p:txBody>
          <a:bodyPr wrap="none" lIns="0" tIns="0" rIns="0" bIns="0" rtlCol="0" anchor="t"/>
          <a:lstStyle/>
          <a:p>
            <a:pPr marL="0" indent="0" algn="l">
              <a:lnSpc>
                <a:spcPts val="2450"/>
              </a:lnSpc>
              <a:buNone/>
            </a:pPr>
            <a:endParaRPr lang="en-US" sz="1550" dirty="0"/>
          </a:p>
        </p:txBody>
      </p:sp>
      <p:sp>
        <p:nvSpPr>
          <p:cNvPr id="12" name="Text 8"/>
          <p:cNvSpPr/>
          <p:nvPr/>
        </p:nvSpPr>
        <p:spPr>
          <a:xfrm>
            <a:off x="7438430" y="7252097"/>
            <a:ext cx="6403181" cy="696039"/>
          </a:xfrm>
          <a:prstGeom prst="rect">
            <a:avLst/>
          </a:prstGeom>
          <a:noFill/>
          <a:ln/>
        </p:spPr>
        <p:txBody>
          <a:bodyPr wrap="square" lIns="0" tIns="0" rIns="0" bIns="0" rtlCol="0" anchor="t"/>
          <a:lstStyle/>
          <a:p>
            <a:pPr marL="0" indent="0" algn="l">
              <a:lnSpc>
                <a:spcPts val="2700"/>
              </a:lnSpc>
              <a:buNone/>
            </a:pPr>
            <a:r>
              <a:rPr lang="en-US" sz="2150" dirty="0">
                <a:solidFill>
                  <a:srgbClr val="F9EEE7"/>
                </a:solidFill>
                <a:latin typeface="Quattrocento" pitchFamily="34" charset="0"/>
                <a:ea typeface="Quattrocento" pitchFamily="34" charset="-122"/>
                <a:cs typeface="Quattrocento" pitchFamily="34" charset="-120"/>
              </a:rPr>
              <a:t>Gets hard data to design smarter, more profitable marketing campaigns.</a:t>
            </a:r>
            <a:endParaRPr lang="en-US" sz="2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25579" y="567571"/>
            <a:ext cx="6376630" cy="606981"/>
          </a:xfrm>
          <a:prstGeom prst="rect">
            <a:avLst/>
          </a:prstGeom>
          <a:noFill/>
          <a:ln/>
        </p:spPr>
        <p:txBody>
          <a:bodyPr wrap="none" lIns="0" tIns="0" rIns="0" bIns="0" rtlCol="0" anchor="t"/>
          <a:lstStyle/>
          <a:p>
            <a:pPr marL="0" indent="0" algn="l">
              <a:lnSpc>
                <a:spcPts val="4750"/>
              </a:lnSpc>
              <a:buNone/>
            </a:pPr>
            <a:r>
              <a:rPr lang="en-US" sz="3800" dirty="0">
                <a:solidFill>
                  <a:srgbClr val="FFD9BE"/>
                </a:solidFill>
                <a:latin typeface="Quattrocento" pitchFamily="34" charset="0"/>
                <a:ea typeface="Quattrocento" pitchFamily="34" charset="-122"/>
                <a:cs typeface="Quattrocento" pitchFamily="34" charset="-120"/>
              </a:rPr>
              <a:t>What's the Technology Used?</a:t>
            </a:r>
            <a:endParaRPr lang="en-US" sz="3800" dirty="0"/>
          </a:p>
        </p:txBody>
      </p:sp>
      <p:sp>
        <p:nvSpPr>
          <p:cNvPr id="3" name="Text 1"/>
          <p:cNvSpPr/>
          <p:nvPr/>
        </p:nvSpPr>
        <p:spPr>
          <a:xfrm>
            <a:off x="2130028" y="2463522"/>
            <a:ext cx="2913817" cy="364093"/>
          </a:xfrm>
          <a:prstGeom prst="rect">
            <a:avLst/>
          </a:prstGeom>
          <a:noFill/>
          <a:ln/>
        </p:spPr>
        <p:txBody>
          <a:bodyPr wrap="none" lIns="0" tIns="0" rIns="0" bIns="0" rtlCol="0" anchor="t"/>
          <a:lstStyle/>
          <a:p>
            <a:pPr marL="0" indent="0" algn="r">
              <a:lnSpc>
                <a:spcPts val="2850"/>
              </a:lnSpc>
              <a:buNone/>
            </a:pPr>
            <a:r>
              <a:rPr lang="en-US" sz="2250" b="1" dirty="0">
                <a:solidFill>
                  <a:srgbClr val="FFFFFF"/>
                </a:solidFill>
                <a:latin typeface="Quattrocento" pitchFamily="34" charset="0"/>
                <a:ea typeface="Quattrocento" pitchFamily="34" charset="-122"/>
                <a:cs typeface="Quattrocento" pitchFamily="34" charset="-120"/>
              </a:rPr>
              <a:t>Python:</a:t>
            </a:r>
            <a:r>
              <a:rPr lang="en-US" sz="2250" dirty="0">
                <a:solidFill>
                  <a:srgbClr val="F9EEE7"/>
                </a:solidFill>
                <a:latin typeface="Quattrocento" pitchFamily="34" charset="0"/>
                <a:ea typeface="Quattrocento" pitchFamily="34" charset="-122"/>
                <a:cs typeface="Quattrocento" pitchFamily="34" charset="-120"/>
              </a:rPr>
              <a:t> The Engine</a:t>
            </a:r>
            <a:endParaRPr lang="en-US" sz="2250" dirty="0"/>
          </a:p>
        </p:txBody>
      </p:sp>
      <p:pic>
        <p:nvPicPr>
          <p:cNvPr id="4" name="Image 0" descr="preencoded.png"/>
          <p:cNvPicPr>
            <a:picLocks noChangeAspect="1"/>
          </p:cNvPicPr>
          <p:nvPr/>
        </p:nvPicPr>
        <p:blipFill>
          <a:blip r:embed="rId3"/>
          <a:stretch>
            <a:fillRect/>
          </a:stretch>
        </p:blipFill>
        <p:spPr>
          <a:xfrm>
            <a:off x="5043845" y="1587341"/>
            <a:ext cx="4542711" cy="4542711"/>
          </a:xfrm>
          <a:prstGeom prst="rect">
            <a:avLst/>
          </a:prstGeom>
        </p:spPr>
      </p:pic>
      <p:pic>
        <p:nvPicPr>
          <p:cNvPr id="5" name="Image 1" descr="preencoded.png"/>
          <p:cNvPicPr>
            <a:picLocks noChangeAspect="1"/>
          </p:cNvPicPr>
          <p:nvPr/>
        </p:nvPicPr>
        <p:blipFill>
          <a:blip r:embed="rId4"/>
          <a:stretch>
            <a:fillRect/>
          </a:stretch>
        </p:blipFill>
        <p:spPr>
          <a:xfrm>
            <a:off x="6342876" y="2850059"/>
            <a:ext cx="290155" cy="362783"/>
          </a:xfrm>
          <a:prstGeom prst="rect">
            <a:avLst/>
          </a:prstGeom>
        </p:spPr>
      </p:pic>
      <p:sp>
        <p:nvSpPr>
          <p:cNvPr id="6" name="Text 2"/>
          <p:cNvSpPr/>
          <p:nvPr/>
        </p:nvSpPr>
        <p:spPr>
          <a:xfrm>
            <a:off x="9586555" y="2463522"/>
            <a:ext cx="3727609" cy="364093"/>
          </a:xfrm>
          <a:prstGeom prst="rect">
            <a:avLst/>
          </a:prstGeom>
          <a:noFill/>
          <a:ln/>
        </p:spPr>
        <p:txBody>
          <a:bodyPr wrap="none" lIns="0" tIns="0" rIns="0" bIns="0" rtlCol="0" anchor="t"/>
          <a:lstStyle/>
          <a:p>
            <a:pPr marL="0" indent="0" algn="l">
              <a:lnSpc>
                <a:spcPts val="2850"/>
              </a:lnSpc>
              <a:buNone/>
            </a:pPr>
            <a:r>
              <a:rPr lang="en-US" sz="2250" b="1" dirty="0">
                <a:solidFill>
                  <a:srgbClr val="FFFFFF"/>
                </a:solidFill>
                <a:latin typeface="Quattrocento" pitchFamily="34" charset="0"/>
                <a:ea typeface="Quattrocento" pitchFamily="34" charset="-122"/>
                <a:cs typeface="Quattrocento" pitchFamily="34" charset="-120"/>
              </a:rPr>
              <a:t>Streamlit:</a:t>
            </a:r>
            <a:r>
              <a:rPr lang="en-US" sz="2250" dirty="0">
                <a:solidFill>
                  <a:srgbClr val="F9EEE7"/>
                </a:solidFill>
                <a:latin typeface="Quattrocento" pitchFamily="34" charset="0"/>
                <a:ea typeface="Quattrocento" pitchFamily="34" charset="-122"/>
                <a:cs typeface="Quattrocento" pitchFamily="34" charset="-120"/>
              </a:rPr>
              <a:t> The Interactive UI</a:t>
            </a:r>
            <a:endParaRPr lang="en-US" sz="2250" dirty="0"/>
          </a:p>
        </p:txBody>
      </p:sp>
      <p:pic>
        <p:nvPicPr>
          <p:cNvPr id="7" name="Image 2" descr="preencoded.png"/>
          <p:cNvPicPr>
            <a:picLocks noChangeAspect="1"/>
          </p:cNvPicPr>
          <p:nvPr/>
        </p:nvPicPr>
        <p:blipFill>
          <a:blip r:embed="rId5"/>
          <a:stretch>
            <a:fillRect/>
          </a:stretch>
        </p:blipFill>
        <p:spPr>
          <a:xfrm>
            <a:off x="5043845" y="1587341"/>
            <a:ext cx="4542711" cy="4542711"/>
          </a:xfrm>
          <a:prstGeom prst="rect">
            <a:avLst/>
          </a:prstGeom>
        </p:spPr>
      </p:pic>
      <p:pic>
        <p:nvPicPr>
          <p:cNvPr id="8" name="Image 3" descr="preencoded.png"/>
          <p:cNvPicPr>
            <a:picLocks noChangeAspect="1"/>
          </p:cNvPicPr>
          <p:nvPr/>
        </p:nvPicPr>
        <p:blipFill>
          <a:blip r:embed="rId6"/>
          <a:stretch>
            <a:fillRect/>
          </a:stretch>
        </p:blipFill>
        <p:spPr>
          <a:xfrm>
            <a:off x="7997250" y="2850059"/>
            <a:ext cx="290155" cy="362783"/>
          </a:xfrm>
          <a:prstGeom prst="rect">
            <a:avLst/>
          </a:prstGeom>
        </p:spPr>
      </p:pic>
      <p:sp>
        <p:nvSpPr>
          <p:cNvPr id="9" name="Text 3"/>
          <p:cNvSpPr/>
          <p:nvPr/>
        </p:nvSpPr>
        <p:spPr>
          <a:xfrm>
            <a:off x="9586555" y="4889659"/>
            <a:ext cx="3393162" cy="364093"/>
          </a:xfrm>
          <a:prstGeom prst="rect">
            <a:avLst/>
          </a:prstGeom>
          <a:noFill/>
          <a:ln/>
        </p:spPr>
        <p:txBody>
          <a:bodyPr wrap="none" lIns="0" tIns="0" rIns="0" bIns="0" rtlCol="0" anchor="t"/>
          <a:lstStyle/>
          <a:p>
            <a:pPr marL="0" indent="0" algn="l">
              <a:lnSpc>
                <a:spcPts val="2850"/>
              </a:lnSpc>
              <a:buNone/>
            </a:pPr>
            <a:r>
              <a:rPr lang="en-US" sz="2250" b="1" dirty="0">
                <a:solidFill>
                  <a:srgbClr val="FFFFFF"/>
                </a:solidFill>
                <a:latin typeface="Quattrocento" pitchFamily="34" charset="0"/>
                <a:ea typeface="Quattrocento" pitchFamily="34" charset="-122"/>
                <a:cs typeface="Quattrocento" pitchFamily="34" charset="-120"/>
              </a:rPr>
              <a:t>Pandas:</a:t>
            </a:r>
            <a:r>
              <a:rPr lang="en-US" sz="2250" dirty="0">
                <a:solidFill>
                  <a:srgbClr val="F9EEE7"/>
                </a:solidFill>
                <a:latin typeface="Quattrocento" pitchFamily="34" charset="0"/>
                <a:ea typeface="Quattrocento" pitchFamily="34" charset="-122"/>
                <a:cs typeface="Quattrocento" pitchFamily="34" charset="-120"/>
              </a:rPr>
              <a:t> The Data Handler</a:t>
            </a:r>
            <a:endParaRPr lang="en-US" sz="2250" dirty="0"/>
          </a:p>
        </p:txBody>
      </p:sp>
      <p:pic>
        <p:nvPicPr>
          <p:cNvPr id="10" name="Image 4" descr="preencoded.png"/>
          <p:cNvPicPr>
            <a:picLocks noChangeAspect="1"/>
          </p:cNvPicPr>
          <p:nvPr/>
        </p:nvPicPr>
        <p:blipFill>
          <a:blip r:embed="rId7"/>
          <a:stretch>
            <a:fillRect/>
          </a:stretch>
        </p:blipFill>
        <p:spPr>
          <a:xfrm>
            <a:off x="5043845" y="1587341"/>
            <a:ext cx="4542711" cy="4542711"/>
          </a:xfrm>
          <a:prstGeom prst="rect">
            <a:avLst/>
          </a:prstGeom>
        </p:spPr>
      </p:pic>
      <p:pic>
        <p:nvPicPr>
          <p:cNvPr id="11" name="Image 5" descr="preencoded.png"/>
          <p:cNvPicPr>
            <a:picLocks noChangeAspect="1"/>
          </p:cNvPicPr>
          <p:nvPr/>
        </p:nvPicPr>
        <p:blipFill>
          <a:blip r:embed="rId8"/>
          <a:stretch>
            <a:fillRect/>
          </a:stretch>
        </p:blipFill>
        <p:spPr>
          <a:xfrm>
            <a:off x="7997250" y="4504432"/>
            <a:ext cx="290155" cy="362783"/>
          </a:xfrm>
          <a:prstGeom prst="rect">
            <a:avLst/>
          </a:prstGeom>
        </p:spPr>
      </p:pic>
      <p:sp>
        <p:nvSpPr>
          <p:cNvPr id="12" name="Text 4"/>
          <p:cNvSpPr/>
          <p:nvPr/>
        </p:nvSpPr>
        <p:spPr>
          <a:xfrm>
            <a:off x="1345406" y="4889659"/>
            <a:ext cx="3698438" cy="364093"/>
          </a:xfrm>
          <a:prstGeom prst="rect">
            <a:avLst/>
          </a:prstGeom>
          <a:noFill/>
          <a:ln/>
        </p:spPr>
        <p:txBody>
          <a:bodyPr wrap="none" lIns="0" tIns="0" rIns="0" bIns="0" rtlCol="0" anchor="t"/>
          <a:lstStyle/>
          <a:p>
            <a:pPr marL="0" indent="0" algn="r">
              <a:lnSpc>
                <a:spcPts val="2850"/>
              </a:lnSpc>
              <a:buNone/>
            </a:pPr>
            <a:r>
              <a:rPr lang="en-US" sz="2250" b="1" dirty="0">
                <a:solidFill>
                  <a:srgbClr val="FFFFFF"/>
                </a:solidFill>
                <a:latin typeface="Quattrocento" pitchFamily="34" charset="0"/>
                <a:ea typeface="Quattrocento" pitchFamily="34" charset="-122"/>
                <a:cs typeface="Quattrocento" pitchFamily="34" charset="-120"/>
              </a:rPr>
              <a:t>Plotly:</a:t>
            </a:r>
            <a:r>
              <a:rPr lang="en-US" sz="2250" dirty="0">
                <a:solidFill>
                  <a:srgbClr val="F9EEE7"/>
                </a:solidFill>
                <a:latin typeface="Quattrocento" pitchFamily="34" charset="0"/>
                <a:ea typeface="Quattrocento" pitchFamily="34" charset="-122"/>
                <a:cs typeface="Quattrocento" pitchFamily="34" charset="-120"/>
              </a:rPr>
              <a:t> The Visual Storyteller</a:t>
            </a:r>
            <a:endParaRPr lang="en-US" sz="2250" dirty="0"/>
          </a:p>
        </p:txBody>
      </p:sp>
      <p:pic>
        <p:nvPicPr>
          <p:cNvPr id="13" name="Image 6" descr="preencoded.png"/>
          <p:cNvPicPr>
            <a:picLocks noChangeAspect="1"/>
          </p:cNvPicPr>
          <p:nvPr/>
        </p:nvPicPr>
        <p:blipFill>
          <a:blip r:embed="rId9"/>
          <a:stretch>
            <a:fillRect/>
          </a:stretch>
        </p:blipFill>
        <p:spPr>
          <a:xfrm>
            <a:off x="5043845" y="1587341"/>
            <a:ext cx="4542711" cy="4542711"/>
          </a:xfrm>
          <a:prstGeom prst="rect">
            <a:avLst/>
          </a:prstGeom>
        </p:spPr>
      </p:pic>
      <p:pic>
        <p:nvPicPr>
          <p:cNvPr id="14" name="Image 7" descr="preencoded.png"/>
          <p:cNvPicPr>
            <a:picLocks noChangeAspect="1"/>
          </p:cNvPicPr>
          <p:nvPr/>
        </p:nvPicPr>
        <p:blipFill>
          <a:blip r:embed="rId10"/>
          <a:stretch>
            <a:fillRect/>
          </a:stretch>
        </p:blipFill>
        <p:spPr>
          <a:xfrm>
            <a:off x="6342876" y="4504432"/>
            <a:ext cx="290155" cy="362783"/>
          </a:xfrm>
          <a:prstGeom prst="rect">
            <a:avLst/>
          </a:prstGeom>
        </p:spPr>
      </p:pic>
      <p:sp>
        <p:nvSpPr>
          <p:cNvPr id="15" name="Shape 5"/>
          <p:cNvSpPr/>
          <p:nvPr/>
        </p:nvSpPr>
        <p:spPr>
          <a:xfrm>
            <a:off x="825579" y="6362224"/>
            <a:ext cx="12979241" cy="1372314"/>
          </a:xfrm>
          <a:prstGeom prst="roundRect">
            <a:avLst>
              <a:gd name="adj" fmla="val 2256"/>
            </a:avLst>
          </a:prstGeom>
          <a:solidFill>
            <a:srgbClr val="1D4241"/>
          </a:solidFill>
          <a:ln/>
        </p:spPr>
      </p:sp>
      <p:pic>
        <p:nvPicPr>
          <p:cNvPr id="16" name="Image 8" descr="preencoded.png"/>
          <p:cNvPicPr>
            <a:picLocks noChangeAspect="1"/>
          </p:cNvPicPr>
          <p:nvPr/>
        </p:nvPicPr>
        <p:blipFill>
          <a:blip r:embed="rId11"/>
          <a:stretch>
            <a:fillRect/>
          </a:stretch>
        </p:blipFill>
        <p:spPr>
          <a:xfrm>
            <a:off x="1031915" y="6676311"/>
            <a:ext cx="322421" cy="257889"/>
          </a:xfrm>
          <a:prstGeom prst="rect">
            <a:avLst/>
          </a:prstGeom>
        </p:spPr>
      </p:pic>
      <p:sp>
        <p:nvSpPr>
          <p:cNvPr id="17" name="Text 6"/>
          <p:cNvSpPr/>
          <p:nvPr/>
        </p:nvSpPr>
        <p:spPr>
          <a:xfrm>
            <a:off x="1560671" y="6620113"/>
            <a:ext cx="12037814" cy="825579"/>
          </a:xfrm>
          <a:prstGeom prst="rect">
            <a:avLst/>
          </a:prstGeom>
          <a:noFill/>
          <a:ln/>
        </p:spPr>
        <p:txBody>
          <a:bodyPr wrap="square" lIns="0" tIns="0" rIns="0" bIns="0" rtlCol="0" anchor="t"/>
          <a:lstStyle/>
          <a:p>
            <a:pPr marL="0" indent="0" algn="l">
              <a:lnSpc>
                <a:spcPts val="3250"/>
              </a:lnSpc>
              <a:buNone/>
            </a:pPr>
            <a:r>
              <a:rPr lang="en-US" sz="2000" b="1" dirty="0">
                <a:solidFill>
                  <a:srgbClr val="FFFFFF"/>
                </a:solidFill>
                <a:latin typeface="Quattrocento" pitchFamily="34" charset="0"/>
                <a:ea typeface="Quattrocento" pitchFamily="34" charset="-122"/>
                <a:cs typeface="Quattrocento" pitchFamily="34" charset="-120"/>
              </a:rPr>
              <a:t>Skills Growth:</a:t>
            </a:r>
            <a:r>
              <a:rPr lang="en-US" sz="2000" dirty="0">
                <a:solidFill>
                  <a:srgbClr val="FFFFFF"/>
                </a:solidFill>
                <a:latin typeface="Quattrocento" pitchFamily="34" charset="0"/>
                <a:ea typeface="Quattrocento" pitchFamily="34" charset="-122"/>
                <a:cs typeface="Quattrocento" pitchFamily="34" charset="-120"/>
              </a:rPr>
              <a:t> From a mathematical formula to a live data application, brought to life with Streamlit.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580668"/>
            <a:ext cx="6883003" cy="638770"/>
          </a:xfrm>
          <a:prstGeom prst="rect">
            <a:avLst/>
          </a:prstGeom>
          <a:noFill/>
          <a:ln/>
        </p:spPr>
        <p:txBody>
          <a:bodyPr wrap="none" lIns="0" tIns="0" rIns="0" bIns="0" rtlCol="0" anchor="t"/>
          <a:lstStyle/>
          <a:p>
            <a:pPr marL="0" indent="0" algn="l">
              <a:lnSpc>
                <a:spcPts val="4850"/>
              </a:lnSpc>
              <a:buNone/>
            </a:pPr>
            <a:r>
              <a:rPr lang="en-US" sz="3850" dirty="0">
                <a:solidFill>
                  <a:srgbClr val="FFD9BE"/>
                </a:solidFill>
                <a:latin typeface="Quattrocento" pitchFamily="34" charset="0"/>
                <a:ea typeface="Quattrocento" pitchFamily="34" charset="-122"/>
                <a:cs typeface="Quattrocento" pitchFamily="34" charset="-120"/>
              </a:rPr>
              <a:t>What's the Business Driver? </a:t>
            </a:r>
            <a:r>
              <a:rPr lang="en-US" sz="3850" dirty="0">
                <a:solidFill>
                  <a:srgbClr val="000000"/>
                </a:solidFill>
                <a:latin typeface="Quattrocento" pitchFamily="34" charset="0"/>
                <a:ea typeface="Quattrocento" pitchFamily="34" charset="-122"/>
                <a:cs typeface="Quattrocento" pitchFamily="34" charset="-120"/>
              </a:rPr>
              <a:t>💰</a:t>
            </a:r>
            <a:endParaRPr lang="en-US" sz="3850" dirty="0"/>
          </a:p>
        </p:txBody>
      </p:sp>
      <p:pic>
        <p:nvPicPr>
          <p:cNvPr id="3" name="Image 0" descr="preencoded.png"/>
          <p:cNvPicPr>
            <a:picLocks noChangeAspect="1"/>
          </p:cNvPicPr>
          <p:nvPr/>
        </p:nvPicPr>
        <p:blipFill>
          <a:blip r:embed="rId3"/>
          <a:stretch>
            <a:fillRect/>
          </a:stretch>
        </p:blipFill>
        <p:spPr>
          <a:xfrm>
            <a:off x="837724" y="1638300"/>
            <a:ext cx="4318278" cy="837724"/>
          </a:xfrm>
          <a:prstGeom prst="rect">
            <a:avLst/>
          </a:prstGeom>
        </p:spPr>
      </p:pic>
      <p:sp>
        <p:nvSpPr>
          <p:cNvPr id="4" name="Text 1"/>
          <p:cNvSpPr/>
          <p:nvPr/>
        </p:nvSpPr>
        <p:spPr>
          <a:xfrm>
            <a:off x="1047155" y="2685455"/>
            <a:ext cx="3899416" cy="985361"/>
          </a:xfrm>
          <a:prstGeom prst="rect">
            <a:avLst/>
          </a:prstGeom>
          <a:noFill/>
          <a:ln/>
        </p:spPr>
        <p:txBody>
          <a:bodyPr wrap="square" lIns="0" tIns="0" rIns="0" bIns="0" rtlCol="0" anchor="t"/>
          <a:lstStyle/>
          <a:p>
            <a:pPr marL="0" indent="0" algn="l">
              <a:lnSpc>
                <a:spcPts val="3850"/>
              </a:lnSpc>
              <a:buNone/>
            </a:pPr>
            <a:r>
              <a:rPr lang="en-US" sz="3100" dirty="0">
                <a:solidFill>
                  <a:srgbClr val="F9EEE7"/>
                </a:solidFill>
                <a:latin typeface="Quattrocento" pitchFamily="34" charset="0"/>
                <a:ea typeface="Quattrocento" pitchFamily="34" charset="-122"/>
                <a:cs typeface="Quattrocento" pitchFamily="34" charset="-120"/>
              </a:rPr>
              <a:t>Optimize Engagement</a:t>
            </a:r>
            <a:endParaRPr lang="en-US" sz="3100" dirty="0"/>
          </a:p>
        </p:txBody>
      </p:sp>
      <p:sp>
        <p:nvSpPr>
          <p:cNvPr id="5" name="Text 2"/>
          <p:cNvSpPr/>
          <p:nvPr/>
        </p:nvSpPr>
        <p:spPr>
          <a:xfrm>
            <a:off x="1047155" y="3796427"/>
            <a:ext cx="3899416" cy="739378"/>
          </a:xfrm>
          <a:prstGeom prst="rect">
            <a:avLst/>
          </a:prstGeom>
          <a:noFill/>
          <a:ln/>
        </p:spPr>
        <p:txBody>
          <a:bodyPr wrap="square" lIns="0" tIns="0" rIns="0" bIns="0" rtlCol="0" anchor="t"/>
          <a:lstStyle/>
          <a:p>
            <a:pPr marL="0" indent="0" algn="l">
              <a:lnSpc>
                <a:spcPts val="2900"/>
              </a:lnSpc>
              <a:buNone/>
            </a:pPr>
            <a:r>
              <a:rPr lang="en-US" sz="2300" dirty="0">
                <a:solidFill>
                  <a:srgbClr val="FFFFFF"/>
                </a:solidFill>
                <a:latin typeface="Quattrocento" pitchFamily="34" charset="0"/>
                <a:ea typeface="Quattrocento" pitchFamily="34" charset="-122"/>
                <a:cs typeface="Quattrocento" pitchFamily="34" charset="-120"/>
              </a:rPr>
              <a:t>Find the "sweet spot" between fun and frustration.</a:t>
            </a:r>
            <a:endParaRPr lang="en-US" sz="2300" dirty="0"/>
          </a:p>
        </p:txBody>
      </p:sp>
      <p:pic>
        <p:nvPicPr>
          <p:cNvPr id="6" name="Image 1" descr="preencoded.png"/>
          <p:cNvPicPr>
            <a:picLocks noChangeAspect="1"/>
          </p:cNvPicPr>
          <p:nvPr/>
        </p:nvPicPr>
        <p:blipFill>
          <a:blip r:embed="rId4"/>
          <a:stretch>
            <a:fillRect/>
          </a:stretch>
        </p:blipFill>
        <p:spPr>
          <a:xfrm>
            <a:off x="1047155" y="4771430"/>
            <a:ext cx="3899416" cy="2667953"/>
          </a:xfrm>
          <a:prstGeom prst="rect">
            <a:avLst/>
          </a:prstGeom>
        </p:spPr>
      </p:pic>
      <p:pic>
        <p:nvPicPr>
          <p:cNvPr id="7" name="Image 2" descr="preencoded.png"/>
          <p:cNvPicPr>
            <a:picLocks noChangeAspect="1"/>
          </p:cNvPicPr>
          <p:nvPr/>
        </p:nvPicPr>
        <p:blipFill>
          <a:blip r:embed="rId5"/>
          <a:stretch>
            <a:fillRect/>
          </a:stretch>
        </p:blipFill>
        <p:spPr>
          <a:xfrm>
            <a:off x="5156002" y="1638300"/>
            <a:ext cx="4318278" cy="837724"/>
          </a:xfrm>
          <a:prstGeom prst="rect">
            <a:avLst/>
          </a:prstGeom>
        </p:spPr>
      </p:pic>
      <p:sp>
        <p:nvSpPr>
          <p:cNvPr id="8" name="Text 3"/>
          <p:cNvSpPr/>
          <p:nvPr/>
        </p:nvSpPr>
        <p:spPr>
          <a:xfrm>
            <a:off x="5365433" y="2685455"/>
            <a:ext cx="3899416" cy="492681"/>
          </a:xfrm>
          <a:prstGeom prst="rect">
            <a:avLst/>
          </a:prstGeom>
          <a:noFill/>
          <a:ln/>
        </p:spPr>
        <p:txBody>
          <a:bodyPr wrap="none" lIns="0" tIns="0" rIns="0" bIns="0" rtlCol="0" anchor="t"/>
          <a:lstStyle/>
          <a:p>
            <a:pPr marL="0" indent="0" algn="l">
              <a:lnSpc>
                <a:spcPts val="3850"/>
              </a:lnSpc>
              <a:buNone/>
            </a:pPr>
            <a:r>
              <a:rPr lang="en-US" sz="3100" dirty="0">
                <a:solidFill>
                  <a:srgbClr val="F9EEE7"/>
                </a:solidFill>
                <a:latin typeface="Quattrocento" pitchFamily="34" charset="0"/>
                <a:ea typeface="Quattrocento" pitchFamily="34" charset="-122"/>
                <a:cs typeface="Quattrocento" pitchFamily="34" charset="-120"/>
              </a:rPr>
              <a:t>Maximize Revenue</a:t>
            </a:r>
            <a:endParaRPr lang="en-US" sz="3100" dirty="0"/>
          </a:p>
        </p:txBody>
      </p:sp>
      <p:sp>
        <p:nvSpPr>
          <p:cNvPr id="9" name="Text 4"/>
          <p:cNvSpPr/>
          <p:nvPr/>
        </p:nvSpPr>
        <p:spPr>
          <a:xfrm>
            <a:off x="5365433" y="3303746"/>
            <a:ext cx="3899416" cy="1109067"/>
          </a:xfrm>
          <a:prstGeom prst="rect">
            <a:avLst/>
          </a:prstGeom>
          <a:noFill/>
          <a:ln/>
        </p:spPr>
        <p:txBody>
          <a:bodyPr wrap="square" lIns="0" tIns="0" rIns="0" bIns="0" rtlCol="0" anchor="t"/>
          <a:lstStyle/>
          <a:p>
            <a:pPr marL="0" indent="0" algn="l">
              <a:lnSpc>
                <a:spcPts val="2900"/>
              </a:lnSpc>
              <a:buNone/>
            </a:pPr>
            <a:r>
              <a:rPr lang="en-US" sz="2300" dirty="0">
                <a:solidFill>
                  <a:srgbClr val="FFFFFF"/>
                </a:solidFill>
                <a:latin typeface="Quattrocento" pitchFamily="34" charset="0"/>
                <a:ea typeface="Quattrocento" pitchFamily="34" charset="-122"/>
                <a:cs typeface="Quattrocento" pitchFamily="34" charset="-120"/>
              </a:rPr>
              <a:t>Understand which reward model makes the most money.</a:t>
            </a:r>
            <a:endParaRPr lang="en-US" sz="2300" dirty="0"/>
          </a:p>
        </p:txBody>
      </p:sp>
      <p:pic>
        <p:nvPicPr>
          <p:cNvPr id="10" name="Image 3" descr="preencoded.png"/>
          <p:cNvPicPr>
            <a:picLocks noChangeAspect="1"/>
          </p:cNvPicPr>
          <p:nvPr/>
        </p:nvPicPr>
        <p:blipFill>
          <a:blip r:embed="rId6"/>
          <a:stretch>
            <a:fillRect/>
          </a:stretch>
        </p:blipFill>
        <p:spPr>
          <a:xfrm>
            <a:off x="5365433" y="4648438"/>
            <a:ext cx="3899416" cy="2667953"/>
          </a:xfrm>
          <a:prstGeom prst="rect">
            <a:avLst/>
          </a:prstGeom>
        </p:spPr>
      </p:pic>
      <p:pic>
        <p:nvPicPr>
          <p:cNvPr id="11" name="Image 4" descr="preencoded.png"/>
          <p:cNvPicPr>
            <a:picLocks noChangeAspect="1"/>
          </p:cNvPicPr>
          <p:nvPr/>
        </p:nvPicPr>
        <p:blipFill>
          <a:blip r:embed="rId7"/>
          <a:stretch>
            <a:fillRect/>
          </a:stretch>
        </p:blipFill>
        <p:spPr>
          <a:xfrm>
            <a:off x="9474279" y="1638300"/>
            <a:ext cx="4318278" cy="837724"/>
          </a:xfrm>
          <a:prstGeom prst="rect">
            <a:avLst/>
          </a:prstGeom>
        </p:spPr>
      </p:pic>
      <p:sp>
        <p:nvSpPr>
          <p:cNvPr id="12" name="Text 5"/>
          <p:cNvSpPr/>
          <p:nvPr/>
        </p:nvSpPr>
        <p:spPr>
          <a:xfrm>
            <a:off x="9683710" y="2685455"/>
            <a:ext cx="3899416" cy="492681"/>
          </a:xfrm>
          <a:prstGeom prst="rect">
            <a:avLst/>
          </a:prstGeom>
          <a:noFill/>
          <a:ln/>
        </p:spPr>
        <p:txBody>
          <a:bodyPr wrap="none" lIns="0" tIns="0" rIns="0" bIns="0" rtlCol="0" anchor="t"/>
          <a:lstStyle/>
          <a:p>
            <a:pPr marL="0" indent="0" algn="l">
              <a:lnSpc>
                <a:spcPts val="3850"/>
              </a:lnSpc>
              <a:buNone/>
            </a:pPr>
            <a:r>
              <a:rPr lang="en-US" sz="3100" dirty="0">
                <a:solidFill>
                  <a:srgbClr val="F9EEE7"/>
                </a:solidFill>
                <a:latin typeface="Quattrocento" pitchFamily="34" charset="0"/>
                <a:ea typeface="Quattrocento" pitchFamily="34" charset="-122"/>
                <a:cs typeface="Quattrocento" pitchFamily="34" charset="-120"/>
              </a:rPr>
              <a:t>Reduce Risk</a:t>
            </a:r>
            <a:endParaRPr lang="en-US" sz="3100" dirty="0"/>
          </a:p>
        </p:txBody>
      </p:sp>
      <p:sp>
        <p:nvSpPr>
          <p:cNvPr id="13" name="Text 6"/>
          <p:cNvSpPr/>
          <p:nvPr/>
        </p:nvSpPr>
        <p:spPr>
          <a:xfrm>
            <a:off x="9683710" y="3303746"/>
            <a:ext cx="3899416" cy="1109067"/>
          </a:xfrm>
          <a:prstGeom prst="rect">
            <a:avLst/>
          </a:prstGeom>
          <a:noFill/>
          <a:ln/>
        </p:spPr>
        <p:txBody>
          <a:bodyPr wrap="square" lIns="0" tIns="0" rIns="0" bIns="0" rtlCol="0" anchor="t"/>
          <a:lstStyle/>
          <a:p>
            <a:pPr marL="0" indent="0" algn="l">
              <a:lnSpc>
                <a:spcPts val="2900"/>
              </a:lnSpc>
              <a:buNone/>
            </a:pPr>
            <a:r>
              <a:rPr lang="en-US" sz="2300" dirty="0">
                <a:solidFill>
                  <a:srgbClr val="FFFFFF"/>
                </a:solidFill>
                <a:latin typeface="Quattrocento" pitchFamily="34" charset="0"/>
                <a:ea typeface="Quattrocento" pitchFamily="34" charset="-122"/>
                <a:cs typeface="Quattrocento" pitchFamily="34" charset="-120"/>
              </a:rPr>
              <a:t>Predict campaign costs and player drop-off before launch.</a:t>
            </a:r>
            <a:endParaRPr lang="en-US" sz="2300" dirty="0"/>
          </a:p>
        </p:txBody>
      </p:sp>
      <p:pic>
        <p:nvPicPr>
          <p:cNvPr id="14" name="Image 5" descr="preencoded.png"/>
          <p:cNvPicPr>
            <a:picLocks noChangeAspect="1"/>
          </p:cNvPicPr>
          <p:nvPr/>
        </p:nvPicPr>
        <p:blipFill>
          <a:blip r:embed="rId8"/>
          <a:stretch>
            <a:fillRect/>
          </a:stretch>
        </p:blipFill>
        <p:spPr>
          <a:xfrm>
            <a:off x="9683710" y="4648438"/>
            <a:ext cx="3899416" cy="26679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9977" y="699611"/>
            <a:ext cx="5964674" cy="566142"/>
          </a:xfrm>
          <a:prstGeom prst="rect">
            <a:avLst/>
          </a:prstGeom>
          <a:noFill/>
          <a:ln/>
        </p:spPr>
        <p:txBody>
          <a:bodyPr wrap="none" lIns="0" tIns="0" rIns="0" bIns="0" rtlCol="0" anchor="t"/>
          <a:lstStyle/>
          <a:p>
            <a:pPr marL="0" indent="0" algn="l">
              <a:lnSpc>
                <a:spcPts val="4450"/>
              </a:lnSpc>
              <a:buNone/>
            </a:pPr>
            <a:r>
              <a:rPr lang="en-US" sz="3550" dirty="0">
                <a:solidFill>
                  <a:srgbClr val="FFD9BE"/>
                </a:solidFill>
                <a:latin typeface="Quattrocento" pitchFamily="34" charset="0"/>
                <a:ea typeface="Quattrocento" pitchFamily="34" charset="-122"/>
                <a:cs typeface="Quattrocento" pitchFamily="34" charset="-120"/>
              </a:rPr>
              <a:t>Where Did I Get The Data?</a:t>
            </a:r>
            <a:endParaRPr lang="en-US" sz="3550" dirty="0"/>
          </a:p>
        </p:txBody>
      </p:sp>
      <p:pic>
        <p:nvPicPr>
          <p:cNvPr id="3" name="Image 0" descr="preencoded.png"/>
          <p:cNvPicPr>
            <a:picLocks noChangeAspect="1"/>
          </p:cNvPicPr>
          <p:nvPr/>
        </p:nvPicPr>
        <p:blipFill>
          <a:blip r:embed="rId3"/>
          <a:stretch>
            <a:fillRect/>
          </a:stretch>
        </p:blipFill>
        <p:spPr>
          <a:xfrm>
            <a:off x="769977" y="1650683"/>
            <a:ext cx="481132" cy="481132"/>
          </a:xfrm>
          <a:prstGeom prst="rect">
            <a:avLst/>
          </a:prstGeom>
        </p:spPr>
      </p:pic>
      <p:sp>
        <p:nvSpPr>
          <p:cNvPr id="4" name="Text 1"/>
          <p:cNvSpPr/>
          <p:nvPr/>
        </p:nvSpPr>
        <p:spPr>
          <a:xfrm>
            <a:off x="769977" y="2372320"/>
            <a:ext cx="4529257" cy="566142"/>
          </a:xfrm>
          <a:prstGeom prst="rect">
            <a:avLst/>
          </a:prstGeom>
          <a:noFill/>
          <a:ln/>
        </p:spPr>
        <p:txBody>
          <a:bodyPr wrap="none" lIns="0" tIns="0" rIns="0" bIns="0" rtlCol="0" anchor="t"/>
          <a:lstStyle/>
          <a:p>
            <a:pPr marL="0" indent="0" algn="l">
              <a:lnSpc>
                <a:spcPts val="4450"/>
              </a:lnSpc>
              <a:buNone/>
            </a:pPr>
            <a:r>
              <a:rPr lang="en-US" sz="3550" dirty="0">
                <a:solidFill>
                  <a:srgbClr val="F9EEE7"/>
                </a:solidFill>
                <a:latin typeface="Quattrocento" pitchFamily="34" charset="0"/>
                <a:ea typeface="Quattrocento" pitchFamily="34" charset="-122"/>
                <a:cs typeface="Quattrocento" pitchFamily="34" charset="-120"/>
              </a:rPr>
              <a:t>Live Player Data</a:t>
            </a:r>
            <a:endParaRPr lang="en-US" sz="3550" dirty="0"/>
          </a:p>
        </p:txBody>
      </p:sp>
      <p:sp>
        <p:nvSpPr>
          <p:cNvPr id="5" name="Text 2"/>
          <p:cNvSpPr/>
          <p:nvPr/>
        </p:nvSpPr>
        <p:spPr>
          <a:xfrm>
            <a:off x="769977" y="3053953"/>
            <a:ext cx="6424970" cy="308015"/>
          </a:xfrm>
          <a:prstGeom prst="rect">
            <a:avLst/>
          </a:prstGeom>
          <a:noFill/>
          <a:ln/>
        </p:spPr>
        <p:txBody>
          <a:bodyPr wrap="none" lIns="0" tIns="0" rIns="0" bIns="0" rtlCol="0" anchor="t"/>
          <a:lstStyle/>
          <a:p>
            <a:pPr marL="0" indent="0" algn="l">
              <a:lnSpc>
                <a:spcPts val="2400"/>
              </a:lnSpc>
              <a:buNone/>
            </a:pPr>
            <a:endParaRPr lang="en-US" sz="1500" dirty="0"/>
          </a:p>
        </p:txBody>
      </p:sp>
      <p:sp>
        <p:nvSpPr>
          <p:cNvPr id="6" name="Text 3"/>
          <p:cNvSpPr/>
          <p:nvPr/>
        </p:nvSpPr>
        <p:spPr>
          <a:xfrm>
            <a:off x="769977" y="3477458"/>
            <a:ext cx="4290179" cy="452795"/>
          </a:xfrm>
          <a:prstGeom prst="rect">
            <a:avLst/>
          </a:prstGeom>
          <a:noFill/>
          <a:ln/>
        </p:spPr>
        <p:txBody>
          <a:bodyPr wrap="none" lIns="0" tIns="0" rIns="0" bIns="0" rtlCol="0" anchor="t"/>
          <a:lstStyle/>
          <a:p>
            <a:pPr marL="0" indent="0" algn="l">
              <a:lnSpc>
                <a:spcPts val="3550"/>
              </a:lnSpc>
              <a:buNone/>
            </a:pPr>
            <a:r>
              <a:rPr lang="en-US" sz="2850" b="1" dirty="0">
                <a:solidFill>
                  <a:srgbClr val="F9EEE7"/>
                </a:solidFill>
                <a:latin typeface="Quattrocento" pitchFamily="34" charset="0"/>
                <a:ea typeface="Quattrocento" pitchFamily="34" charset="-122"/>
                <a:cs typeface="Quattrocento" pitchFamily="34" charset="-120"/>
              </a:rPr>
              <a:t>Where did it come from?</a:t>
            </a:r>
            <a:r>
              <a:rPr lang="en-US" sz="2850" dirty="0">
                <a:solidFill>
                  <a:srgbClr val="F9EEE7"/>
                </a:solidFill>
                <a:latin typeface="Quattrocento" pitchFamily="34" charset="0"/>
                <a:ea typeface="Quattrocento" pitchFamily="34" charset="-122"/>
                <a:cs typeface="Quattrocento" pitchFamily="34" charset="-120"/>
              </a:rPr>
              <a:t> </a:t>
            </a:r>
            <a:endParaRPr lang="en-US" sz="2850" dirty="0"/>
          </a:p>
        </p:txBody>
      </p:sp>
      <p:sp>
        <p:nvSpPr>
          <p:cNvPr id="7" name="Text 4"/>
          <p:cNvSpPr/>
          <p:nvPr/>
        </p:nvSpPr>
        <p:spPr>
          <a:xfrm>
            <a:off x="769977" y="4045744"/>
            <a:ext cx="6424970" cy="1018699"/>
          </a:xfrm>
          <a:prstGeom prst="rect">
            <a:avLst/>
          </a:prstGeom>
          <a:noFill/>
          <a:ln/>
        </p:spPr>
        <p:txBody>
          <a:bodyPr wrap="square" lIns="0" tIns="0" rIns="0" bIns="0" rtlCol="0" anchor="t"/>
          <a:lstStyle/>
          <a:p>
            <a:pPr marL="0" indent="0" algn="l">
              <a:lnSpc>
                <a:spcPts val="2650"/>
              </a:lnSpc>
              <a:buNone/>
            </a:pPr>
            <a:r>
              <a:rPr lang="en-US" sz="2100" dirty="0">
                <a:solidFill>
                  <a:srgbClr val="FFFFFF"/>
                </a:solidFill>
                <a:latin typeface="Quattrocento" pitchFamily="34" charset="0"/>
                <a:ea typeface="Quattrocento" pitchFamily="34" charset="-122"/>
                <a:cs typeface="Quattrocento" pitchFamily="34" charset="-120"/>
              </a:rPr>
              <a:t>Generated in real-time, every time a user plays my interactive Streamlit game. This is my primary, ground-truth data.</a:t>
            </a:r>
            <a:endParaRPr lang="en-US" sz="2100" dirty="0"/>
          </a:p>
        </p:txBody>
      </p:sp>
      <p:sp>
        <p:nvSpPr>
          <p:cNvPr id="8" name="Text 5"/>
          <p:cNvSpPr/>
          <p:nvPr/>
        </p:nvSpPr>
        <p:spPr>
          <a:xfrm>
            <a:off x="769977" y="5179933"/>
            <a:ext cx="6424970" cy="308015"/>
          </a:xfrm>
          <a:prstGeom prst="rect">
            <a:avLst/>
          </a:prstGeom>
          <a:noFill/>
          <a:ln/>
        </p:spPr>
        <p:txBody>
          <a:bodyPr wrap="none" lIns="0" tIns="0" rIns="0" bIns="0" rtlCol="0" anchor="t"/>
          <a:lstStyle/>
          <a:p>
            <a:pPr marL="0" indent="0" algn="l">
              <a:lnSpc>
                <a:spcPts val="2400"/>
              </a:lnSpc>
              <a:buNone/>
            </a:pPr>
            <a:endParaRPr lang="en-US" sz="1500" dirty="0"/>
          </a:p>
        </p:txBody>
      </p:sp>
      <p:sp>
        <p:nvSpPr>
          <p:cNvPr id="9" name="Text 6"/>
          <p:cNvSpPr/>
          <p:nvPr/>
        </p:nvSpPr>
        <p:spPr>
          <a:xfrm>
            <a:off x="769977" y="5603438"/>
            <a:ext cx="3826431" cy="452795"/>
          </a:xfrm>
          <a:prstGeom prst="rect">
            <a:avLst/>
          </a:prstGeom>
          <a:noFill/>
          <a:ln/>
        </p:spPr>
        <p:txBody>
          <a:bodyPr wrap="none" lIns="0" tIns="0" rIns="0" bIns="0" rtlCol="0" anchor="t"/>
          <a:lstStyle/>
          <a:p>
            <a:pPr marL="0" indent="0" algn="l">
              <a:lnSpc>
                <a:spcPts val="3550"/>
              </a:lnSpc>
              <a:buNone/>
            </a:pPr>
            <a:r>
              <a:rPr lang="en-US" sz="2850" b="1" dirty="0">
                <a:solidFill>
                  <a:srgbClr val="F9EEE7"/>
                </a:solidFill>
                <a:latin typeface="Quattrocento" pitchFamily="34" charset="0"/>
                <a:ea typeface="Quattrocento" pitchFamily="34" charset="-122"/>
                <a:cs typeface="Quattrocento" pitchFamily="34" charset="-120"/>
              </a:rPr>
              <a:t>How was it processed?</a:t>
            </a:r>
            <a:r>
              <a:rPr lang="en-US" sz="2850" dirty="0">
                <a:solidFill>
                  <a:srgbClr val="F9EEE7"/>
                </a:solidFill>
                <a:latin typeface="Quattrocento" pitchFamily="34" charset="0"/>
                <a:ea typeface="Quattrocento" pitchFamily="34" charset="-122"/>
                <a:cs typeface="Quattrocento" pitchFamily="34" charset="-120"/>
              </a:rPr>
              <a:t> </a:t>
            </a:r>
            <a:endParaRPr lang="en-US" sz="2850" dirty="0"/>
          </a:p>
        </p:txBody>
      </p:sp>
      <p:sp>
        <p:nvSpPr>
          <p:cNvPr id="10" name="Text 7"/>
          <p:cNvSpPr/>
          <p:nvPr/>
        </p:nvSpPr>
        <p:spPr>
          <a:xfrm>
            <a:off x="769977" y="6171724"/>
            <a:ext cx="6424970" cy="1018699"/>
          </a:xfrm>
          <a:prstGeom prst="rect">
            <a:avLst/>
          </a:prstGeom>
          <a:noFill/>
          <a:ln/>
        </p:spPr>
        <p:txBody>
          <a:bodyPr wrap="square" lIns="0" tIns="0" rIns="0" bIns="0" rtlCol="0" anchor="t"/>
          <a:lstStyle/>
          <a:p>
            <a:pPr marL="0" indent="0" algn="l">
              <a:lnSpc>
                <a:spcPts val="2650"/>
              </a:lnSpc>
              <a:buNone/>
            </a:pPr>
            <a:r>
              <a:rPr lang="en-US" sz="2100" dirty="0">
                <a:solidFill>
                  <a:srgbClr val="FFFFFF"/>
                </a:solidFill>
                <a:latin typeface="Quattrocento" pitchFamily="34" charset="0"/>
                <a:ea typeface="Quattrocento" pitchFamily="34" charset="-122"/>
                <a:cs typeface="Quattrocento" pitchFamily="34" charset="-120"/>
              </a:rPr>
              <a:t>No pre-processing was needed. The results were clean and logged directly into my "game_log.csv" file.</a:t>
            </a:r>
            <a:endParaRPr lang="en-US" sz="2100" dirty="0"/>
          </a:p>
        </p:txBody>
      </p:sp>
      <p:pic>
        <p:nvPicPr>
          <p:cNvPr id="11" name="Image 1" descr="preencoded.png"/>
          <p:cNvPicPr>
            <a:picLocks noChangeAspect="1"/>
          </p:cNvPicPr>
          <p:nvPr/>
        </p:nvPicPr>
        <p:blipFill>
          <a:blip r:embed="rId4"/>
          <a:stretch>
            <a:fillRect/>
          </a:stretch>
        </p:blipFill>
        <p:spPr>
          <a:xfrm>
            <a:off x="7435453" y="1650683"/>
            <a:ext cx="481132" cy="481132"/>
          </a:xfrm>
          <a:prstGeom prst="rect">
            <a:avLst/>
          </a:prstGeom>
        </p:spPr>
      </p:pic>
      <p:sp>
        <p:nvSpPr>
          <p:cNvPr id="12" name="Text 8"/>
          <p:cNvSpPr/>
          <p:nvPr/>
        </p:nvSpPr>
        <p:spPr>
          <a:xfrm>
            <a:off x="7435453" y="2372320"/>
            <a:ext cx="4529257" cy="566142"/>
          </a:xfrm>
          <a:prstGeom prst="rect">
            <a:avLst/>
          </a:prstGeom>
          <a:noFill/>
          <a:ln/>
        </p:spPr>
        <p:txBody>
          <a:bodyPr wrap="none" lIns="0" tIns="0" rIns="0" bIns="0" rtlCol="0" anchor="t"/>
          <a:lstStyle/>
          <a:p>
            <a:pPr marL="0" indent="0" algn="l">
              <a:lnSpc>
                <a:spcPts val="4450"/>
              </a:lnSpc>
              <a:buNone/>
            </a:pPr>
            <a:r>
              <a:rPr lang="en-US" sz="3550" dirty="0">
                <a:solidFill>
                  <a:srgbClr val="F9EEE7"/>
                </a:solidFill>
                <a:latin typeface="Quattrocento" pitchFamily="34" charset="0"/>
                <a:ea typeface="Quattrocento" pitchFamily="34" charset="-122"/>
                <a:cs typeface="Quattrocento" pitchFamily="34" charset="-120"/>
              </a:rPr>
              <a:t>Simulated Mass Data</a:t>
            </a:r>
            <a:endParaRPr lang="en-US" sz="3550" dirty="0"/>
          </a:p>
        </p:txBody>
      </p:sp>
      <p:sp>
        <p:nvSpPr>
          <p:cNvPr id="13" name="Text 9"/>
          <p:cNvSpPr/>
          <p:nvPr/>
        </p:nvSpPr>
        <p:spPr>
          <a:xfrm>
            <a:off x="7435453" y="3053953"/>
            <a:ext cx="6424970" cy="308015"/>
          </a:xfrm>
          <a:prstGeom prst="rect">
            <a:avLst/>
          </a:prstGeom>
          <a:noFill/>
          <a:ln/>
        </p:spPr>
        <p:txBody>
          <a:bodyPr wrap="none" lIns="0" tIns="0" rIns="0" bIns="0" rtlCol="0" anchor="t"/>
          <a:lstStyle/>
          <a:p>
            <a:pPr marL="0" indent="0" algn="l">
              <a:lnSpc>
                <a:spcPts val="2400"/>
              </a:lnSpc>
              <a:buNone/>
            </a:pPr>
            <a:endParaRPr lang="en-US" sz="1500" dirty="0"/>
          </a:p>
        </p:txBody>
      </p:sp>
      <p:sp>
        <p:nvSpPr>
          <p:cNvPr id="14" name="Text 10"/>
          <p:cNvSpPr/>
          <p:nvPr/>
        </p:nvSpPr>
        <p:spPr>
          <a:xfrm>
            <a:off x="7435453" y="3477458"/>
            <a:ext cx="4290179" cy="452795"/>
          </a:xfrm>
          <a:prstGeom prst="rect">
            <a:avLst/>
          </a:prstGeom>
          <a:noFill/>
          <a:ln/>
        </p:spPr>
        <p:txBody>
          <a:bodyPr wrap="none" lIns="0" tIns="0" rIns="0" bIns="0" rtlCol="0" anchor="t"/>
          <a:lstStyle/>
          <a:p>
            <a:pPr marL="0" indent="0" algn="l">
              <a:lnSpc>
                <a:spcPts val="3550"/>
              </a:lnSpc>
              <a:buNone/>
            </a:pPr>
            <a:r>
              <a:rPr lang="en-US" sz="2850" b="1" dirty="0">
                <a:solidFill>
                  <a:srgbClr val="F9EEE7"/>
                </a:solidFill>
                <a:latin typeface="Quattrocento" pitchFamily="34" charset="0"/>
                <a:ea typeface="Quattrocento" pitchFamily="34" charset="-122"/>
                <a:cs typeface="Quattrocento" pitchFamily="34" charset="-120"/>
              </a:rPr>
              <a:t>Where did it come from?</a:t>
            </a:r>
            <a:r>
              <a:rPr lang="en-US" sz="2850" dirty="0">
                <a:solidFill>
                  <a:srgbClr val="F9EEE7"/>
                </a:solidFill>
                <a:latin typeface="Quattrocento" pitchFamily="34" charset="0"/>
                <a:ea typeface="Quattrocento" pitchFamily="34" charset="-122"/>
                <a:cs typeface="Quattrocento" pitchFamily="34" charset="-120"/>
              </a:rPr>
              <a:t> </a:t>
            </a:r>
            <a:endParaRPr lang="en-US" sz="2850" dirty="0"/>
          </a:p>
        </p:txBody>
      </p:sp>
      <p:sp>
        <p:nvSpPr>
          <p:cNvPr id="15" name="Text 11"/>
          <p:cNvSpPr/>
          <p:nvPr/>
        </p:nvSpPr>
        <p:spPr>
          <a:xfrm>
            <a:off x="7435453" y="4045744"/>
            <a:ext cx="6424970" cy="1018699"/>
          </a:xfrm>
          <a:prstGeom prst="rect">
            <a:avLst/>
          </a:prstGeom>
          <a:noFill/>
          <a:ln/>
        </p:spPr>
        <p:txBody>
          <a:bodyPr wrap="square" lIns="0" tIns="0" rIns="0" bIns="0" rtlCol="0" anchor="t"/>
          <a:lstStyle/>
          <a:p>
            <a:pPr marL="0" indent="0" algn="l">
              <a:lnSpc>
                <a:spcPts val="2650"/>
              </a:lnSpc>
              <a:buNone/>
            </a:pPr>
            <a:r>
              <a:rPr lang="en-US" sz="2100" dirty="0">
                <a:solidFill>
                  <a:srgbClr val="FFFFFF"/>
                </a:solidFill>
                <a:latin typeface="Quattrocento" pitchFamily="34" charset="0"/>
                <a:ea typeface="Quattrocento" pitchFamily="34" charset="-122"/>
                <a:cs typeface="Quattrocento" pitchFamily="34" charset="-120"/>
              </a:rPr>
              <a:t>Generated by my Monte Carlo simulation engine, which runs thousands of virtual trials in seconds. This is my high-volume, synthetic data.</a:t>
            </a:r>
            <a:endParaRPr lang="en-US" sz="2100" dirty="0"/>
          </a:p>
        </p:txBody>
      </p:sp>
      <p:sp>
        <p:nvSpPr>
          <p:cNvPr id="16" name="Text 12"/>
          <p:cNvSpPr/>
          <p:nvPr/>
        </p:nvSpPr>
        <p:spPr>
          <a:xfrm>
            <a:off x="7435453" y="5179933"/>
            <a:ext cx="6424970" cy="308015"/>
          </a:xfrm>
          <a:prstGeom prst="rect">
            <a:avLst/>
          </a:prstGeom>
          <a:noFill/>
          <a:ln/>
        </p:spPr>
        <p:txBody>
          <a:bodyPr wrap="none" lIns="0" tIns="0" rIns="0" bIns="0" rtlCol="0" anchor="t"/>
          <a:lstStyle/>
          <a:p>
            <a:pPr marL="0" indent="0" algn="l">
              <a:lnSpc>
                <a:spcPts val="2400"/>
              </a:lnSpc>
              <a:buNone/>
            </a:pPr>
            <a:endParaRPr lang="en-US" sz="1500" dirty="0"/>
          </a:p>
        </p:txBody>
      </p:sp>
      <p:sp>
        <p:nvSpPr>
          <p:cNvPr id="17" name="Text 13"/>
          <p:cNvSpPr/>
          <p:nvPr/>
        </p:nvSpPr>
        <p:spPr>
          <a:xfrm>
            <a:off x="7435453" y="5603438"/>
            <a:ext cx="3826431" cy="452795"/>
          </a:xfrm>
          <a:prstGeom prst="rect">
            <a:avLst/>
          </a:prstGeom>
          <a:noFill/>
          <a:ln/>
        </p:spPr>
        <p:txBody>
          <a:bodyPr wrap="none" lIns="0" tIns="0" rIns="0" bIns="0" rtlCol="0" anchor="t"/>
          <a:lstStyle/>
          <a:p>
            <a:pPr marL="0" indent="0" algn="l">
              <a:lnSpc>
                <a:spcPts val="3550"/>
              </a:lnSpc>
              <a:buNone/>
            </a:pPr>
            <a:r>
              <a:rPr lang="en-US" sz="2850" b="1" dirty="0">
                <a:solidFill>
                  <a:srgbClr val="F9EEE7"/>
                </a:solidFill>
                <a:latin typeface="Quattrocento" pitchFamily="34" charset="0"/>
                <a:ea typeface="Quattrocento" pitchFamily="34" charset="-122"/>
                <a:cs typeface="Quattrocento" pitchFamily="34" charset="-120"/>
              </a:rPr>
              <a:t>How was it processed?</a:t>
            </a:r>
            <a:r>
              <a:rPr lang="en-US" sz="2850" dirty="0">
                <a:solidFill>
                  <a:srgbClr val="F9EEE7"/>
                </a:solidFill>
                <a:latin typeface="Quattrocento" pitchFamily="34" charset="0"/>
                <a:ea typeface="Quattrocento" pitchFamily="34" charset="-122"/>
                <a:cs typeface="Quattrocento" pitchFamily="34" charset="-120"/>
              </a:rPr>
              <a:t> </a:t>
            </a:r>
            <a:endParaRPr lang="en-US" sz="2850" dirty="0"/>
          </a:p>
        </p:txBody>
      </p:sp>
      <p:sp>
        <p:nvSpPr>
          <p:cNvPr id="18" name="Text 14"/>
          <p:cNvSpPr/>
          <p:nvPr/>
        </p:nvSpPr>
        <p:spPr>
          <a:xfrm>
            <a:off x="7435453" y="6171724"/>
            <a:ext cx="6424970" cy="1358265"/>
          </a:xfrm>
          <a:prstGeom prst="rect">
            <a:avLst/>
          </a:prstGeom>
          <a:noFill/>
          <a:ln/>
        </p:spPr>
        <p:txBody>
          <a:bodyPr wrap="square" lIns="0" tIns="0" rIns="0" bIns="0" rtlCol="0" anchor="t"/>
          <a:lstStyle/>
          <a:p>
            <a:pPr marL="0" indent="0" algn="l">
              <a:lnSpc>
                <a:spcPts val="2650"/>
              </a:lnSpc>
              <a:buNone/>
            </a:pPr>
            <a:r>
              <a:rPr lang="en-US" sz="2100" dirty="0">
                <a:solidFill>
                  <a:srgbClr val="FFFFFF"/>
                </a:solidFill>
                <a:latin typeface="Quattrocento" pitchFamily="34" charset="0"/>
                <a:ea typeface="Quattrocento" pitchFamily="34" charset="-122"/>
                <a:cs typeface="Quattrocento" pitchFamily="34" charset="-120"/>
              </a:rPr>
              <a:t>This was heavily post-processed. I used the Pandas library to structure the raw results, group them by design, and calculate the summary statistics (like mean cost) needed to create my Plotly charts.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067395"/>
            <a:ext cx="12210098" cy="615910"/>
          </a:xfrm>
          <a:prstGeom prst="rect">
            <a:avLst/>
          </a:prstGeom>
          <a:noFill/>
          <a:ln/>
        </p:spPr>
        <p:txBody>
          <a:bodyPr wrap="none" lIns="0" tIns="0" rIns="0" bIns="0" rtlCol="0" anchor="t"/>
          <a:lstStyle/>
          <a:p>
            <a:pPr marL="0" indent="0" algn="l">
              <a:lnSpc>
                <a:spcPts val="4850"/>
              </a:lnSpc>
              <a:buNone/>
            </a:pPr>
            <a:r>
              <a:rPr lang="en-US" sz="3850" dirty="0">
                <a:solidFill>
                  <a:srgbClr val="FFD9BE"/>
                </a:solidFill>
                <a:latin typeface="Quattrocento" pitchFamily="34" charset="0"/>
                <a:ea typeface="Quattrocento" pitchFamily="34" charset="-122"/>
                <a:cs typeface="Quattrocento" pitchFamily="34" charset="-120"/>
              </a:rPr>
              <a:t>The Mathematical Heartbeat: Validating My Simulation</a:t>
            </a:r>
            <a:endParaRPr lang="en-US" sz="3850" dirty="0"/>
          </a:p>
        </p:txBody>
      </p:sp>
      <p:sp>
        <p:nvSpPr>
          <p:cNvPr id="3" name="Text 1"/>
          <p:cNvSpPr/>
          <p:nvPr/>
        </p:nvSpPr>
        <p:spPr>
          <a:xfrm>
            <a:off x="837724" y="2102168"/>
            <a:ext cx="12954952" cy="670084"/>
          </a:xfrm>
          <a:prstGeom prst="rect">
            <a:avLst/>
          </a:prstGeom>
          <a:noFill/>
          <a:ln/>
        </p:spPr>
        <p:txBody>
          <a:bodyPr wrap="square" lIns="0" tIns="0" rIns="0" bIns="0" rtlCol="0" anchor="t"/>
          <a:lstStyle/>
          <a:p>
            <a:pPr marL="0" indent="0" algn="l">
              <a:lnSpc>
                <a:spcPts val="2600"/>
              </a:lnSpc>
              <a:buNone/>
            </a:pPr>
            <a:r>
              <a:rPr lang="en-US" dirty="0">
                <a:solidFill>
                  <a:srgbClr val="F9EEE7"/>
                </a:solidFill>
                <a:latin typeface="Quattrocento" pitchFamily="34" charset="0"/>
                <a:ea typeface="Quattrocento" pitchFamily="34" charset="-122"/>
                <a:cs typeface="Quattrocento" pitchFamily="34" charset="-120"/>
              </a:rPr>
              <a:t>My entire simulation is validated because my 'Equal Chance' model perfectly aligns with the established mathematical theory for the Coupon Collector's Problem.</a:t>
            </a:r>
            <a:endParaRPr lang="en-US" dirty="0"/>
          </a:p>
        </p:txBody>
      </p:sp>
      <p:sp>
        <p:nvSpPr>
          <p:cNvPr id="4" name="Text 2"/>
          <p:cNvSpPr/>
          <p:nvPr/>
        </p:nvSpPr>
        <p:spPr>
          <a:xfrm>
            <a:off x="837724" y="3037284"/>
            <a:ext cx="12954952" cy="365046"/>
          </a:xfrm>
          <a:prstGeom prst="rect">
            <a:avLst/>
          </a:prstGeom>
          <a:noFill/>
          <a:ln/>
        </p:spPr>
        <p:txBody>
          <a:bodyPr wrap="none" lIns="0" tIns="0" rIns="0" bIns="0" rtlCol="0" anchor="t"/>
          <a:lstStyle/>
          <a:p>
            <a:pPr marL="0" indent="0" algn="l">
              <a:lnSpc>
                <a:spcPts val="2950"/>
              </a:lnSpc>
              <a:buNone/>
            </a:pPr>
            <a:endParaRPr lang="en-US" sz="1850" dirty="0"/>
          </a:p>
        </p:txBody>
      </p:sp>
      <p:pic>
        <p:nvPicPr>
          <p:cNvPr id="5" name="Image 0" descr="preencoded.png"/>
          <p:cNvPicPr>
            <a:picLocks noChangeAspect="1"/>
          </p:cNvPicPr>
          <p:nvPr/>
        </p:nvPicPr>
        <p:blipFill>
          <a:blip r:embed="rId3"/>
          <a:stretch>
            <a:fillRect/>
          </a:stretch>
        </p:blipFill>
        <p:spPr>
          <a:xfrm>
            <a:off x="837724" y="3037284"/>
            <a:ext cx="12954952" cy="365046"/>
          </a:xfrm>
          <a:prstGeom prst="rect">
            <a:avLst/>
          </a:prstGeom>
        </p:spPr>
      </p:pic>
      <p:sp>
        <p:nvSpPr>
          <p:cNvPr id="6" name="Text 3"/>
          <p:cNvSpPr/>
          <p:nvPr/>
        </p:nvSpPr>
        <p:spPr>
          <a:xfrm>
            <a:off x="837724" y="3667363"/>
            <a:ext cx="12954952" cy="335042"/>
          </a:xfrm>
          <a:prstGeom prst="rect">
            <a:avLst/>
          </a:prstGeom>
          <a:noFill/>
          <a:ln/>
        </p:spPr>
        <p:txBody>
          <a:bodyPr wrap="none" lIns="0" tIns="0" rIns="0" bIns="0" rtlCol="0" anchor="t"/>
          <a:lstStyle/>
          <a:p>
            <a:pPr marL="0" indent="0" algn="l">
              <a:lnSpc>
                <a:spcPts val="2600"/>
              </a:lnSpc>
              <a:buNone/>
            </a:pPr>
            <a:r>
              <a:rPr lang="en-US" dirty="0">
                <a:solidFill>
                  <a:srgbClr val="F9EEE7"/>
                </a:solidFill>
                <a:latin typeface="Quattrocento" pitchFamily="34" charset="0"/>
                <a:ea typeface="Quattrocento" pitchFamily="34" charset="-122"/>
                <a:cs typeface="Quattrocento" pitchFamily="34" charset="-120"/>
              </a:rPr>
              <a:t>Where:</a:t>
            </a:r>
            <a:endParaRPr lang="en-US" dirty="0"/>
          </a:p>
        </p:txBody>
      </p:sp>
      <p:sp>
        <p:nvSpPr>
          <p:cNvPr id="7" name="Text 4"/>
          <p:cNvSpPr/>
          <p:nvPr/>
        </p:nvSpPr>
        <p:spPr>
          <a:xfrm>
            <a:off x="837724" y="4238030"/>
            <a:ext cx="12954952" cy="335042"/>
          </a:xfrm>
          <a:prstGeom prst="rect">
            <a:avLst/>
          </a:prstGeom>
          <a:noFill/>
          <a:ln/>
        </p:spPr>
        <p:txBody>
          <a:bodyPr wrap="none" lIns="0" tIns="0" rIns="0" bIns="0" rtlCol="0" anchor="t"/>
          <a:lstStyle/>
          <a:p>
            <a:pPr marL="342900" indent="-342900" algn="l">
              <a:lnSpc>
                <a:spcPts val="2600"/>
              </a:lnSpc>
              <a:buSzPct val="100000"/>
              <a:buChar char="•"/>
            </a:pPr>
            <a:r>
              <a:rPr lang="en-US" b="1" dirty="0">
                <a:solidFill>
                  <a:srgbClr val="F9EEE7"/>
                </a:solidFill>
                <a:latin typeface="Quattrocento" pitchFamily="34" charset="0"/>
                <a:ea typeface="Quattrocento" pitchFamily="34" charset="-122"/>
                <a:cs typeface="Quattrocento" pitchFamily="34" charset="-120"/>
              </a:rPr>
              <a:t>E(T)</a:t>
            </a:r>
            <a:r>
              <a:rPr lang="en-US" dirty="0">
                <a:solidFill>
                  <a:srgbClr val="F9EEE7"/>
                </a:solidFill>
                <a:latin typeface="Quattrocento" pitchFamily="34" charset="0"/>
                <a:ea typeface="Quattrocento" pitchFamily="34" charset="-122"/>
                <a:cs typeface="Quattrocento" pitchFamily="34" charset="-120"/>
              </a:rPr>
              <a:t> = The Expected (or average) number of trials needed.</a:t>
            </a:r>
            <a:endParaRPr lang="en-US" dirty="0"/>
          </a:p>
        </p:txBody>
      </p:sp>
      <p:sp>
        <p:nvSpPr>
          <p:cNvPr id="8" name="Text 5"/>
          <p:cNvSpPr/>
          <p:nvPr/>
        </p:nvSpPr>
        <p:spPr>
          <a:xfrm>
            <a:off x="837724" y="4646295"/>
            <a:ext cx="12954952" cy="335042"/>
          </a:xfrm>
          <a:prstGeom prst="rect">
            <a:avLst/>
          </a:prstGeom>
          <a:noFill/>
          <a:ln/>
        </p:spPr>
        <p:txBody>
          <a:bodyPr wrap="none" lIns="0" tIns="0" rIns="0" bIns="0" rtlCol="0" anchor="t"/>
          <a:lstStyle/>
          <a:p>
            <a:pPr marL="342900" indent="-342900" algn="l">
              <a:lnSpc>
                <a:spcPts val="2600"/>
              </a:lnSpc>
              <a:buSzPct val="100000"/>
              <a:buChar char="•"/>
            </a:pPr>
            <a:r>
              <a:rPr lang="en-US" b="1" dirty="0">
                <a:solidFill>
                  <a:srgbClr val="F9EEE7"/>
                </a:solidFill>
                <a:latin typeface="Quattrocento" pitchFamily="34" charset="0"/>
                <a:ea typeface="Quattrocento" pitchFamily="34" charset="-122"/>
                <a:cs typeface="Quattrocento" pitchFamily="34" charset="-120"/>
              </a:rPr>
              <a:t>n</a:t>
            </a:r>
            <a:r>
              <a:rPr lang="en-US" dirty="0">
                <a:solidFill>
                  <a:srgbClr val="F9EEE7"/>
                </a:solidFill>
                <a:latin typeface="Quattrocento" pitchFamily="34" charset="0"/>
                <a:ea typeface="Quattrocento" pitchFamily="34" charset="-122"/>
                <a:cs typeface="Quattrocento" pitchFamily="34" charset="-120"/>
              </a:rPr>
              <a:t> = The total number of unique items in the set.</a:t>
            </a:r>
            <a:endParaRPr lang="en-US" dirty="0"/>
          </a:p>
        </p:txBody>
      </p:sp>
      <p:sp>
        <p:nvSpPr>
          <p:cNvPr id="9" name="Text 6"/>
          <p:cNvSpPr/>
          <p:nvPr/>
        </p:nvSpPr>
        <p:spPr>
          <a:xfrm>
            <a:off x="837724" y="5054560"/>
            <a:ext cx="12954952" cy="335042"/>
          </a:xfrm>
          <a:prstGeom prst="rect">
            <a:avLst/>
          </a:prstGeom>
          <a:noFill/>
          <a:ln/>
        </p:spPr>
        <p:txBody>
          <a:bodyPr wrap="none" lIns="0" tIns="0" rIns="0" bIns="0" rtlCol="0" anchor="t"/>
          <a:lstStyle/>
          <a:p>
            <a:pPr marL="342900" indent="-342900" algn="l">
              <a:lnSpc>
                <a:spcPts val="2600"/>
              </a:lnSpc>
              <a:buSzPct val="100000"/>
              <a:buChar char="•"/>
            </a:pPr>
            <a:r>
              <a:rPr lang="en-US" b="1" dirty="0">
                <a:solidFill>
                  <a:srgbClr val="F9EEE7"/>
                </a:solidFill>
                <a:latin typeface="Quattrocento" pitchFamily="34" charset="0"/>
                <a:ea typeface="Quattrocento" pitchFamily="34" charset="-122"/>
                <a:cs typeface="Quattrocento" pitchFamily="34" charset="-120"/>
              </a:rPr>
              <a:t>H_n</a:t>
            </a:r>
            <a:r>
              <a:rPr lang="en-US" dirty="0">
                <a:solidFill>
                  <a:srgbClr val="F9EEE7"/>
                </a:solidFill>
                <a:latin typeface="Quattrocento" pitchFamily="34" charset="0"/>
                <a:ea typeface="Quattrocento" pitchFamily="34" charset="-122"/>
                <a:cs typeface="Quattrocento" pitchFamily="34" charset="-120"/>
              </a:rPr>
              <a:t> = The n-th Harmonic Number, which is the sum of the reciprocals.</a:t>
            </a:r>
            <a:endParaRPr lang="en-US" dirty="0"/>
          </a:p>
        </p:txBody>
      </p:sp>
      <p:sp>
        <p:nvSpPr>
          <p:cNvPr id="10" name="Text 7"/>
          <p:cNvSpPr/>
          <p:nvPr/>
        </p:nvSpPr>
        <p:spPr>
          <a:xfrm>
            <a:off x="837724" y="5654635"/>
            <a:ext cx="12954952" cy="572333"/>
          </a:xfrm>
          <a:prstGeom prst="rect">
            <a:avLst/>
          </a:prstGeom>
          <a:noFill/>
          <a:ln/>
        </p:spPr>
        <p:txBody>
          <a:bodyPr wrap="square" lIns="0" tIns="0" rIns="0" bIns="0" rtlCol="0" anchor="t"/>
          <a:lstStyle/>
          <a:p>
            <a:pPr marL="0" indent="0" algn="l">
              <a:lnSpc>
                <a:spcPts val="2950"/>
              </a:lnSpc>
              <a:buNone/>
            </a:pPr>
            <a:endParaRPr lang="en-US" sz="1850" dirty="0"/>
          </a:p>
        </p:txBody>
      </p:sp>
      <p:pic>
        <p:nvPicPr>
          <p:cNvPr id="11" name="Image 1" descr="preencoded.png"/>
          <p:cNvPicPr>
            <a:picLocks noChangeAspect="1"/>
          </p:cNvPicPr>
          <p:nvPr/>
        </p:nvPicPr>
        <p:blipFill>
          <a:blip r:embed="rId4"/>
          <a:stretch>
            <a:fillRect/>
          </a:stretch>
        </p:blipFill>
        <p:spPr>
          <a:xfrm>
            <a:off x="837724" y="5654635"/>
            <a:ext cx="12954952" cy="572333"/>
          </a:xfrm>
          <a:prstGeom prst="rect">
            <a:avLst/>
          </a:prstGeom>
        </p:spPr>
      </p:pic>
      <p:sp>
        <p:nvSpPr>
          <p:cNvPr id="12" name="Text 8"/>
          <p:cNvSpPr/>
          <p:nvPr/>
        </p:nvSpPr>
        <p:spPr>
          <a:xfrm>
            <a:off x="837724" y="6492002"/>
            <a:ext cx="12954952" cy="670084"/>
          </a:xfrm>
          <a:prstGeom prst="rect">
            <a:avLst/>
          </a:prstGeom>
          <a:noFill/>
          <a:ln/>
        </p:spPr>
        <p:txBody>
          <a:bodyPr wrap="square" lIns="0" tIns="0" rIns="0" bIns="0" rtlCol="0" anchor="t"/>
          <a:lstStyle/>
          <a:p>
            <a:pPr marL="0" indent="0" algn="l">
              <a:lnSpc>
                <a:spcPts val="2600"/>
              </a:lnSpc>
              <a:buNone/>
            </a:pPr>
            <a:r>
              <a:rPr lang="en-US" dirty="0">
                <a:solidFill>
                  <a:srgbClr val="F9EEE7"/>
                </a:solidFill>
                <a:latin typeface="Quattrocento" pitchFamily="34" charset="0"/>
                <a:ea typeface="Quattrocento" pitchFamily="34" charset="-122"/>
                <a:cs typeface="Quattrocento" pitchFamily="34" charset="-120"/>
              </a:rPr>
              <a:t>The Validation: My dashboard proves this. The average attempts from thousands of my simulated trials almost perfectly match the theoretical result from this equation. This confirms my simulation engine is accurate.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6140" y="592693"/>
            <a:ext cx="3496032" cy="401479"/>
          </a:xfrm>
          <a:prstGeom prst="rect">
            <a:avLst/>
          </a:prstGeom>
          <a:noFill/>
          <a:ln/>
        </p:spPr>
        <p:txBody>
          <a:bodyPr wrap="none" lIns="0" tIns="0" rIns="0" bIns="0" rtlCol="0" anchor="t"/>
          <a:lstStyle/>
          <a:p>
            <a:pPr marL="0" indent="0" algn="l">
              <a:lnSpc>
                <a:spcPts val="3150"/>
              </a:lnSpc>
              <a:buNone/>
            </a:pPr>
            <a:r>
              <a:rPr lang="en-US" sz="2500" dirty="0">
                <a:solidFill>
                  <a:srgbClr val="FFD9BE"/>
                </a:solidFill>
                <a:latin typeface="Quattrocento" pitchFamily="34" charset="0"/>
                <a:ea typeface="Quattrocento" pitchFamily="34" charset="-122"/>
                <a:cs typeface="Quattrocento" pitchFamily="34" charset="-120"/>
              </a:rPr>
              <a:t>Challenges &amp; Conquests</a:t>
            </a:r>
            <a:endParaRPr lang="en-US" sz="2500" dirty="0"/>
          </a:p>
        </p:txBody>
      </p:sp>
      <p:sp>
        <p:nvSpPr>
          <p:cNvPr id="3" name="Shape 1"/>
          <p:cNvSpPr/>
          <p:nvPr/>
        </p:nvSpPr>
        <p:spPr>
          <a:xfrm>
            <a:off x="7307580" y="1267182"/>
            <a:ext cx="15240" cy="6369606"/>
          </a:xfrm>
          <a:prstGeom prst="roundRect">
            <a:avLst>
              <a:gd name="adj" fmla="val 134394"/>
            </a:avLst>
          </a:prstGeom>
          <a:solidFill>
            <a:srgbClr val="4A6B6A"/>
          </a:solidFill>
          <a:ln/>
        </p:spPr>
      </p:sp>
      <p:sp>
        <p:nvSpPr>
          <p:cNvPr id="4" name="Shape 2"/>
          <p:cNvSpPr/>
          <p:nvPr/>
        </p:nvSpPr>
        <p:spPr>
          <a:xfrm>
            <a:off x="530900" y="1267182"/>
            <a:ext cx="6769060" cy="1114544"/>
          </a:xfrm>
          <a:prstGeom prst="roundRect">
            <a:avLst>
              <a:gd name="adj" fmla="val 1838"/>
            </a:avLst>
          </a:prstGeom>
          <a:solidFill>
            <a:srgbClr val="315251"/>
          </a:solidFill>
          <a:ln/>
        </p:spPr>
      </p:sp>
      <p:sp>
        <p:nvSpPr>
          <p:cNvPr id="5" name="Text 3"/>
          <p:cNvSpPr/>
          <p:nvPr/>
        </p:nvSpPr>
        <p:spPr>
          <a:xfrm>
            <a:off x="4834652" y="1403628"/>
            <a:ext cx="2328863" cy="240863"/>
          </a:xfrm>
          <a:prstGeom prst="rect">
            <a:avLst/>
          </a:prstGeom>
          <a:noFill/>
          <a:ln/>
        </p:spPr>
        <p:txBody>
          <a:bodyPr wrap="none" lIns="0" tIns="0" rIns="0" bIns="0" rtlCol="0" anchor="t"/>
          <a:lstStyle/>
          <a:p>
            <a:pPr marL="0" indent="0" algn="r">
              <a:lnSpc>
                <a:spcPts val="1850"/>
              </a:lnSpc>
              <a:buNone/>
            </a:pPr>
            <a:r>
              <a:rPr lang="en-US" sz="2800" dirty="0">
                <a:solidFill>
                  <a:srgbClr val="F9EEE7"/>
                </a:solidFill>
                <a:latin typeface="Quattrocento" pitchFamily="34" charset="0"/>
                <a:ea typeface="Quattrocento" pitchFamily="34" charset="-122"/>
                <a:cs typeface="Quattrocento" pitchFamily="34" charset="-120"/>
              </a:rPr>
              <a:t>What were the challenges?</a:t>
            </a:r>
            <a:endParaRPr lang="en-US" sz="2800" dirty="0"/>
          </a:p>
        </p:txBody>
      </p:sp>
      <p:sp>
        <p:nvSpPr>
          <p:cNvPr id="6" name="Text 4"/>
          <p:cNvSpPr/>
          <p:nvPr/>
        </p:nvSpPr>
        <p:spPr>
          <a:xfrm>
            <a:off x="667345" y="1726406"/>
            <a:ext cx="6496169" cy="218480"/>
          </a:xfrm>
          <a:prstGeom prst="rect">
            <a:avLst/>
          </a:prstGeom>
          <a:noFill/>
          <a:ln/>
        </p:spPr>
        <p:txBody>
          <a:bodyPr wrap="none" lIns="0" tIns="0" rIns="0" bIns="0" rtlCol="0" anchor="t"/>
          <a:lstStyle/>
          <a:p>
            <a:pPr marL="0" indent="0" algn="r">
              <a:lnSpc>
                <a:spcPts val="1700"/>
              </a:lnSpc>
              <a:buNone/>
            </a:pPr>
            <a:endParaRPr lang="en-US" sz="1050" dirty="0"/>
          </a:p>
        </p:txBody>
      </p:sp>
      <p:sp>
        <p:nvSpPr>
          <p:cNvPr id="7" name="Text 5"/>
          <p:cNvSpPr/>
          <p:nvPr/>
        </p:nvSpPr>
        <p:spPr>
          <a:xfrm>
            <a:off x="667345" y="2026801"/>
            <a:ext cx="6496169" cy="218480"/>
          </a:xfrm>
          <a:prstGeom prst="rect">
            <a:avLst/>
          </a:prstGeom>
          <a:noFill/>
          <a:ln/>
        </p:spPr>
        <p:txBody>
          <a:bodyPr wrap="none" lIns="0" tIns="0" rIns="0" bIns="0" rtlCol="0" anchor="t"/>
          <a:lstStyle/>
          <a:p>
            <a:pPr marL="0" indent="0" algn="r">
              <a:lnSpc>
                <a:spcPts val="1700"/>
              </a:lnSpc>
              <a:buNone/>
            </a:pPr>
            <a:r>
              <a:rPr lang="en-US" dirty="0">
                <a:solidFill>
                  <a:srgbClr val="F9EEE7"/>
                </a:solidFill>
                <a:latin typeface="Quattrocento" pitchFamily="34" charset="0"/>
                <a:ea typeface="Quattrocento" pitchFamily="34" charset="-122"/>
                <a:cs typeface="Quattrocento" pitchFamily="34" charset="-120"/>
              </a:rPr>
              <a:t>Making a dry statistical problem feel fun.</a:t>
            </a:r>
            <a:endParaRPr lang="en-US" dirty="0"/>
          </a:p>
        </p:txBody>
      </p:sp>
      <p:sp>
        <p:nvSpPr>
          <p:cNvPr id="8" name="Shape 6"/>
          <p:cNvSpPr/>
          <p:nvPr/>
        </p:nvSpPr>
        <p:spPr>
          <a:xfrm>
            <a:off x="7330440" y="1944885"/>
            <a:ext cx="6769060" cy="1114544"/>
          </a:xfrm>
          <a:prstGeom prst="rect">
            <a:avLst/>
          </a:prstGeom>
          <a:solidFill>
            <a:srgbClr val="315251"/>
          </a:solidFill>
          <a:ln/>
        </p:spPr>
      </p:sp>
      <p:sp>
        <p:nvSpPr>
          <p:cNvPr id="9" name="Text 7"/>
          <p:cNvSpPr/>
          <p:nvPr/>
        </p:nvSpPr>
        <p:spPr>
          <a:xfrm>
            <a:off x="7466886" y="2059424"/>
            <a:ext cx="2462808" cy="240863"/>
          </a:xfrm>
          <a:prstGeom prst="rect">
            <a:avLst/>
          </a:prstGeom>
          <a:noFill/>
          <a:ln/>
        </p:spPr>
        <p:txBody>
          <a:bodyPr wrap="none" lIns="0" tIns="0" rIns="0" bIns="0" rtlCol="0" anchor="t"/>
          <a:lstStyle/>
          <a:p>
            <a:pPr marL="0" indent="0" algn="l">
              <a:lnSpc>
                <a:spcPts val="1850"/>
              </a:lnSpc>
              <a:buNone/>
            </a:pPr>
            <a:r>
              <a:rPr lang="en-US" sz="2800" dirty="0">
                <a:solidFill>
                  <a:srgbClr val="F9EEE7"/>
                </a:solidFill>
                <a:latin typeface="Quattrocento" pitchFamily="34" charset="0"/>
                <a:ea typeface="Quattrocento" pitchFamily="34" charset="-122"/>
                <a:cs typeface="Quattrocento" pitchFamily="34" charset="-120"/>
              </a:rPr>
              <a:t>How did you conquer them?</a:t>
            </a:r>
            <a:endParaRPr lang="en-US" sz="2800" dirty="0"/>
          </a:p>
        </p:txBody>
      </p:sp>
      <p:sp>
        <p:nvSpPr>
          <p:cNvPr id="10" name="Text 8"/>
          <p:cNvSpPr/>
          <p:nvPr/>
        </p:nvSpPr>
        <p:spPr>
          <a:xfrm>
            <a:off x="7466886" y="3113961"/>
            <a:ext cx="6496169" cy="218480"/>
          </a:xfrm>
          <a:prstGeom prst="rect">
            <a:avLst/>
          </a:prstGeom>
          <a:noFill/>
          <a:ln/>
        </p:spPr>
        <p:txBody>
          <a:bodyPr wrap="none" lIns="0" tIns="0" rIns="0" bIns="0" rtlCol="0" anchor="t"/>
          <a:lstStyle/>
          <a:p>
            <a:pPr marL="0" indent="0" algn="l">
              <a:lnSpc>
                <a:spcPts val="1700"/>
              </a:lnSpc>
              <a:buNone/>
            </a:pPr>
            <a:endParaRPr lang="en-US" sz="1050" dirty="0"/>
          </a:p>
        </p:txBody>
      </p:sp>
      <p:sp>
        <p:nvSpPr>
          <p:cNvPr id="11" name="Text 9"/>
          <p:cNvSpPr/>
          <p:nvPr/>
        </p:nvSpPr>
        <p:spPr>
          <a:xfrm>
            <a:off x="7436405" y="2585930"/>
            <a:ext cx="6496169" cy="218480"/>
          </a:xfrm>
          <a:prstGeom prst="rect">
            <a:avLst/>
          </a:prstGeom>
          <a:noFill/>
          <a:ln/>
        </p:spPr>
        <p:txBody>
          <a:bodyPr wrap="none" lIns="0" tIns="0" rIns="0" bIns="0" rtlCol="0" anchor="t"/>
          <a:lstStyle/>
          <a:p>
            <a:pPr marL="0" indent="0" algn="l">
              <a:lnSpc>
                <a:spcPts val="1700"/>
              </a:lnSpc>
              <a:buNone/>
            </a:pPr>
            <a:r>
              <a:rPr lang="en-US" dirty="0">
                <a:solidFill>
                  <a:srgbClr val="F9EEE7"/>
                </a:solidFill>
                <a:latin typeface="Quattrocento" pitchFamily="34" charset="0"/>
                <a:ea typeface="Quattrocento" pitchFamily="34" charset="-122"/>
                <a:cs typeface="Quattrocento" pitchFamily="34" charset="-120"/>
              </a:rPr>
              <a:t>I gamified it! The interactive UI makes the math invisible</a:t>
            </a:r>
            <a:r>
              <a:rPr lang="en-US" sz="1050" dirty="0">
                <a:solidFill>
                  <a:srgbClr val="F9EEE7"/>
                </a:solidFill>
                <a:latin typeface="Quattrocento" pitchFamily="34" charset="0"/>
                <a:ea typeface="Quattrocento" pitchFamily="34" charset="-122"/>
                <a:cs typeface="Quattrocento" pitchFamily="34" charset="-120"/>
              </a:rPr>
              <a:t>.</a:t>
            </a:r>
            <a:endParaRPr lang="en-US" sz="1050" dirty="0"/>
          </a:p>
        </p:txBody>
      </p:sp>
      <p:sp>
        <p:nvSpPr>
          <p:cNvPr id="12" name="Shape 10"/>
          <p:cNvSpPr/>
          <p:nvPr/>
        </p:nvSpPr>
        <p:spPr>
          <a:xfrm>
            <a:off x="530899" y="3053790"/>
            <a:ext cx="6769060" cy="2598865"/>
          </a:xfrm>
          <a:prstGeom prst="roundRect">
            <a:avLst>
              <a:gd name="adj" fmla="val 1320"/>
            </a:avLst>
          </a:prstGeom>
          <a:solidFill>
            <a:srgbClr val="315251"/>
          </a:solidFill>
          <a:ln/>
        </p:spPr>
      </p:sp>
      <p:sp>
        <p:nvSpPr>
          <p:cNvPr id="13" name="Text 11"/>
          <p:cNvSpPr/>
          <p:nvPr/>
        </p:nvSpPr>
        <p:spPr>
          <a:xfrm>
            <a:off x="4548425" y="3212009"/>
            <a:ext cx="2751534" cy="240863"/>
          </a:xfrm>
          <a:prstGeom prst="rect">
            <a:avLst/>
          </a:prstGeom>
          <a:noFill/>
          <a:ln/>
        </p:spPr>
        <p:txBody>
          <a:bodyPr wrap="none" lIns="0" tIns="0" rIns="0" bIns="0" rtlCol="0" anchor="t"/>
          <a:lstStyle/>
          <a:p>
            <a:pPr marL="0" indent="0" algn="r">
              <a:lnSpc>
                <a:spcPts val="1850"/>
              </a:lnSpc>
              <a:buNone/>
            </a:pPr>
            <a:r>
              <a:rPr lang="en-US" sz="2800" dirty="0">
                <a:solidFill>
                  <a:srgbClr val="F9EEE7"/>
                </a:solidFill>
                <a:latin typeface="Quattrocento" pitchFamily="34" charset="0"/>
                <a:ea typeface="Quattrocento" pitchFamily="34" charset="-122"/>
                <a:cs typeface="Quattrocento" pitchFamily="34" charset="-120"/>
              </a:rPr>
              <a:t>What would you do differently?</a:t>
            </a:r>
            <a:endParaRPr lang="en-US" sz="2800" dirty="0"/>
          </a:p>
        </p:txBody>
      </p:sp>
      <p:sp>
        <p:nvSpPr>
          <p:cNvPr id="14" name="Text 12"/>
          <p:cNvSpPr/>
          <p:nvPr/>
        </p:nvSpPr>
        <p:spPr>
          <a:xfrm>
            <a:off x="667345" y="4501515"/>
            <a:ext cx="6496169" cy="218480"/>
          </a:xfrm>
          <a:prstGeom prst="rect">
            <a:avLst/>
          </a:prstGeom>
          <a:noFill/>
          <a:ln/>
        </p:spPr>
        <p:txBody>
          <a:bodyPr wrap="none" lIns="0" tIns="0" rIns="0" bIns="0" rtlCol="0" anchor="t"/>
          <a:lstStyle/>
          <a:p>
            <a:pPr marL="0" indent="0" algn="r">
              <a:lnSpc>
                <a:spcPts val="1700"/>
              </a:lnSpc>
              <a:buNone/>
            </a:pPr>
            <a:endParaRPr lang="en-US" sz="1050" dirty="0"/>
          </a:p>
        </p:txBody>
      </p:sp>
      <p:sp>
        <p:nvSpPr>
          <p:cNvPr id="15" name="Text 13"/>
          <p:cNvSpPr/>
          <p:nvPr/>
        </p:nvSpPr>
        <p:spPr>
          <a:xfrm>
            <a:off x="727569" y="3551322"/>
            <a:ext cx="6496169" cy="655439"/>
          </a:xfrm>
          <a:prstGeom prst="rect">
            <a:avLst/>
          </a:prstGeom>
          <a:noFill/>
          <a:ln/>
        </p:spPr>
        <p:txBody>
          <a:bodyPr wrap="square" lIns="0" tIns="0" rIns="0" bIns="0" rtlCol="0" anchor="t"/>
          <a:lstStyle/>
          <a:p>
            <a:pPr marL="0" indent="0" algn="r">
              <a:lnSpc>
                <a:spcPct val="150000"/>
              </a:lnSpc>
              <a:buNone/>
            </a:pPr>
            <a:r>
              <a:rPr lang="en-US" dirty="0">
                <a:solidFill>
                  <a:srgbClr val="F9EEE7"/>
                </a:solidFill>
                <a:latin typeface="Quattrocento" pitchFamily="34" charset="0"/>
                <a:ea typeface="Quattrocento" pitchFamily="34" charset="-122"/>
                <a:cs typeface="Quattrocento" pitchFamily="34" charset="-120"/>
              </a:rPr>
              <a:t>The main thing I'd change is to prioritize behavioral modeling; I'd integrate the Pity System and a Quitting Threshold right away. This would make the simulation instantly more realistic by measuring both the cost of being fair and the money lost when players quit from frustration.</a:t>
            </a:r>
            <a:endParaRPr lang="en-US" dirty="0"/>
          </a:p>
        </p:txBody>
      </p:sp>
      <p:sp>
        <p:nvSpPr>
          <p:cNvPr id="16" name="Shape 14"/>
          <p:cNvSpPr/>
          <p:nvPr/>
        </p:nvSpPr>
        <p:spPr>
          <a:xfrm>
            <a:off x="7330440" y="4801911"/>
            <a:ext cx="7284720" cy="3427690"/>
          </a:xfrm>
          <a:prstGeom prst="rect">
            <a:avLst/>
          </a:prstGeom>
          <a:solidFill>
            <a:srgbClr val="315251"/>
          </a:solidFill>
          <a:ln/>
        </p:spPr>
      </p:sp>
      <p:sp>
        <p:nvSpPr>
          <p:cNvPr id="17" name="Text 15"/>
          <p:cNvSpPr/>
          <p:nvPr/>
        </p:nvSpPr>
        <p:spPr>
          <a:xfrm>
            <a:off x="7330440" y="5024081"/>
            <a:ext cx="3831669" cy="240863"/>
          </a:xfrm>
          <a:prstGeom prst="rect">
            <a:avLst/>
          </a:prstGeom>
          <a:noFill/>
          <a:ln/>
        </p:spPr>
        <p:txBody>
          <a:bodyPr wrap="none" lIns="0" tIns="0" rIns="0" bIns="0" rtlCol="0" anchor="t"/>
          <a:lstStyle/>
          <a:p>
            <a:pPr marL="0" indent="0" algn="l">
              <a:lnSpc>
                <a:spcPts val="1850"/>
              </a:lnSpc>
              <a:buNone/>
            </a:pPr>
            <a:r>
              <a:rPr lang="en-US" sz="2800" dirty="0">
                <a:solidFill>
                  <a:srgbClr val="F9EEE7"/>
                </a:solidFill>
                <a:latin typeface="Quattrocento" pitchFamily="34" charset="0"/>
                <a:ea typeface="Quattrocento" pitchFamily="34" charset="-122"/>
                <a:cs typeface="Quattrocento" pitchFamily="34" charset="-120"/>
              </a:rPr>
              <a:t>Which was that terrible moment of despair?</a:t>
            </a:r>
            <a:endParaRPr lang="en-US" sz="2800" dirty="0"/>
          </a:p>
        </p:txBody>
      </p:sp>
      <p:sp>
        <p:nvSpPr>
          <p:cNvPr id="18" name="Text 16"/>
          <p:cNvSpPr/>
          <p:nvPr/>
        </p:nvSpPr>
        <p:spPr>
          <a:xfrm>
            <a:off x="7466886" y="6326029"/>
            <a:ext cx="6496169" cy="218480"/>
          </a:xfrm>
          <a:prstGeom prst="rect">
            <a:avLst/>
          </a:prstGeom>
          <a:noFill/>
          <a:ln/>
        </p:spPr>
        <p:txBody>
          <a:bodyPr wrap="none" lIns="0" tIns="0" rIns="0" bIns="0" rtlCol="0" anchor="t"/>
          <a:lstStyle/>
          <a:p>
            <a:pPr marL="0" indent="0" algn="l">
              <a:lnSpc>
                <a:spcPts val="1700"/>
              </a:lnSpc>
              <a:buNone/>
            </a:pPr>
            <a:endParaRPr lang="en-US" sz="1050" dirty="0"/>
          </a:p>
        </p:txBody>
      </p:sp>
      <p:sp>
        <p:nvSpPr>
          <p:cNvPr id="19" name="Text 17"/>
          <p:cNvSpPr/>
          <p:nvPr/>
        </p:nvSpPr>
        <p:spPr>
          <a:xfrm>
            <a:off x="7436406" y="5358181"/>
            <a:ext cx="6496169" cy="873919"/>
          </a:xfrm>
          <a:prstGeom prst="rect">
            <a:avLst/>
          </a:prstGeom>
          <a:noFill/>
          <a:ln/>
        </p:spPr>
        <p:txBody>
          <a:bodyPr wrap="square" lIns="0" tIns="0" rIns="0" bIns="0" rtlCol="0" anchor="t"/>
          <a:lstStyle/>
          <a:p>
            <a:pPr marL="0" indent="0" algn="l">
              <a:lnSpc>
                <a:spcPct val="150000"/>
              </a:lnSpc>
              <a:buNone/>
            </a:pPr>
            <a:r>
              <a:rPr lang="en-US" dirty="0">
                <a:solidFill>
                  <a:srgbClr val="F9EEE7"/>
                </a:solidFill>
                <a:latin typeface="Quattrocento" pitchFamily="34" charset="0"/>
                <a:ea typeface="Quattrocento" pitchFamily="34" charset="-122"/>
                <a:cs typeface="Quattrocento" pitchFamily="34" charset="-120"/>
              </a:rPr>
              <a:t>The biggest hurdle was the confusion between my Monte Carlo Simulation and the term RCT. The despair came from realizing the code worked, but I lacked the language to prove its analytical rigor. The breakthrough was understanding that the simulation's structure mimics the principles of an RCT, allowing me to validate my data against the Theoretical Value and trust my predictions.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6755" y="485894"/>
            <a:ext cx="4856917" cy="519708"/>
          </a:xfrm>
          <a:prstGeom prst="rect">
            <a:avLst/>
          </a:prstGeom>
          <a:noFill/>
          <a:ln/>
        </p:spPr>
        <p:txBody>
          <a:bodyPr wrap="none" lIns="0" tIns="0" rIns="0" bIns="0" rtlCol="0" anchor="t"/>
          <a:lstStyle/>
          <a:p>
            <a:pPr marL="0" indent="0" algn="l">
              <a:lnSpc>
                <a:spcPts val="4050"/>
              </a:lnSpc>
              <a:buNone/>
            </a:pPr>
            <a:r>
              <a:rPr lang="en-US" sz="3250" dirty="0">
                <a:solidFill>
                  <a:srgbClr val="FFD9BE"/>
                </a:solidFill>
                <a:latin typeface="Quattrocento" pitchFamily="34" charset="0"/>
                <a:ea typeface="Quattrocento" pitchFamily="34" charset="-122"/>
                <a:cs typeface="Quattrocento" pitchFamily="34" charset="-120"/>
              </a:rPr>
              <a:t>Reflections &amp; What's Next</a:t>
            </a:r>
            <a:endParaRPr lang="en-US" sz="3250" dirty="0"/>
          </a:p>
        </p:txBody>
      </p:sp>
      <p:pic>
        <p:nvPicPr>
          <p:cNvPr id="3" name="Image 0" descr="preencoded.png"/>
          <p:cNvPicPr>
            <a:picLocks noChangeAspect="1"/>
          </p:cNvPicPr>
          <p:nvPr/>
        </p:nvPicPr>
        <p:blipFill>
          <a:blip r:embed="rId3"/>
          <a:stretch>
            <a:fillRect/>
          </a:stretch>
        </p:blipFill>
        <p:spPr>
          <a:xfrm>
            <a:off x="706755" y="1358979"/>
            <a:ext cx="176689" cy="220861"/>
          </a:xfrm>
          <a:prstGeom prst="rect">
            <a:avLst/>
          </a:prstGeom>
        </p:spPr>
      </p:pic>
      <p:sp>
        <p:nvSpPr>
          <p:cNvPr id="4" name="Shape 1"/>
          <p:cNvSpPr/>
          <p:nvPr/>
        </p:nvSpPr>
        <p:spPr>
          <a:xfrm>
            <a:off x="706755" y="1636395"/>
            <a:ext cx="6520101" cy="22860"/>
          </a:xfrm>
          <a:prstGeom prst="rect">
            <a:avLst/>
          </a:prstGeom>
          <a:solidFill>
            <a:srgbClr val="EF9C82"/>
          </a:solidFill>
          <a:ln/>
        </p:spPr>
      </p:sp>
      <p:sp>
        <p:nvSpPr>
          <p:cNvPr id="5" name="Text 2"/>
          <p:cNvSpPr/>
          <p:nvPr/>
        </p:nvSpPr>
        <p:spPr>
          <a:xfrm>
            <a:off x="706755" y="1770459"/>
            <a:ext cx="2372916" cy="259794"/>
          </a:xfrm>
          <a:prstGeom prst="rect">
            <a:avLst/>
          </a:prstGeom>
          <a:noFill/>
          <a:ln/>
        </p:spPr>
        <p:txBody>
          <a:bodyPr wrap="none" lIns="0" tIns="0" rIns="0" bIns="0" rtlCol="0" anchor="t"/>
          <a:lstStyle/>
          <a:p>
            <a:pPr marL="0" indent="0" algn="l">
              <a:lnSpc>
                <a:spcPts val="2000"/>
              </a:lnSpc>
              <a:buNone/>
            </a:pPr>
            <a:r>
              <a:rPr lang="en-US" sz="1600" dirty="0">
                <a:solidFill>
                  <a:srgbClr val="F9EEE7"/>
                </a:solidFill>
                <a:latin typeface="Quattrocento" pitchFamily="34" charset="0"/>
                <a:ea typeface="Quattrocento" pitchFamily="34" charset="-122"/>
                <a:cs typeface="Quattrocento" pitchFamily="34" charset="-120"/>
              </a:rPr>
              <a:t>What did you truly learn?</a:t>
            </a:r>
            <a:endParaRPr lang="en-US" sz="1600" dirty="0"/>
          </a:p>
        </p:txBody>
      </p:sp>
      <p:sp>
        <p:nvSpPr>
          <p:cNvPr id="6" name="Text 3"/>
          <p:cNvSpPr/>
          <p:nvPr/>
        </p:nvSpPr>
        <p:spPr>
          <a:xfrm>
            <a:off x="706755" y="2136219"/>
            <a:ext cx="6520101" cy="847963"/>
          </a:xfrm>
          <a:prstGeom prst="rect">
            <a:avLst/>
          </a:prstGeom>
          <a:noFill/>
          <a:ln/>
        </p:spPr>
        <p:txBody>
          <a:bodyPr wrap="square" lIns="0" tIns="0" rIns="0" bIns="0" rtlCol="0" anchor="t"/>
          <a:lstStyle/>
          <a:p>
            <a:pPr marL="0" indent="0" algn="l">
              <a:lnSpc>
                <a:spcPts val="2200"/>
              </a:lnSpc>
              <a:buNone/>
            </a:pPr>
            <a:r>
              <a:rPr lang="en-US" sz="1350" dirty="0">
                <a:solidFill>
                  <a:srgbClr val="F9EEE7"/>
                </a:solidFill>
                <a:latin typeface="Quattrocento" pitchFamily="34" charset="0"/>
                <a:ea typeface="Quattrocento" pitchFamily="34" charset="-122"/>
                <a:cs typeface="Quattrocento" pitchFamily="34" charset="-120"/>
              </a:rPr>
              <a:t>I learned that by strategically designing randomness, businesses can control customer emotions—turning a simple game into a powerful tool for loyalty and profit. And also how to create user interface using streamlit.</a:t>
            </a:r>
            <a:endParaRPr lang="en-US" sz="1350" dirty="0"/>
          </a:p>
        </p:txBody>
      </p:sp>
      <p:pic>
        <p:nvPicPr>
          <p:cNvPr id="7" name="Image 1" descr="preencoded.png"/>
          <p:cNvPicPr>
            <a:picLocks noChangeAspect="1"/>
          </p:cNvPicPr>
          <p:nvPr/>
        </p:nvPicPr>
        <p:blipFill>
          <a:blip r:embed="rId4"/>
          <a:stretch>
            <a:fillRect/>
          </a:stretch>
        </p:blipFill>
        <p:spPr>
          <a:xfrm>
            <a:off x="7403544" y="1358979"/>
            <a:ext cx="176689" cy="220861"/>
          </a:xfrm>
          <a:prstGeom prst="rect">
            <a:avLst/>
          </a:prstGeom>
        </p:spPr>
      </p:pic>
      <p:sp>
        <p:nvSpPr>
          <p:cNvPr id="8" name="Shape 4"/>
          <p:cNvSpPr/>
          <p:nvPr/>
        </p:nvSpPr>
        <p:spPr>
          <a:xfrm>
            <a:off x="7403544" y="1636395"/>
            <a:ext cx="6520101" cy="22860"/>
          </a:xfrm>
          <a:prstGeom prst="rect">
            <a:avLst/>
          </a:prstGeom>
          <a:solidFill>
            <a:srgbClr val="EF9C82"/>
          </a:solidFill>
          <a:ln/>
        </p:spPr>
      </p:sp>
      <p:sp>
        <p:nvSpPr>
          <p:cNvPr id="9" name="Text 5"/>
          <p:cNvSpPr/>
          <p:nvPr/>
        </p:nvSpPr>
        <p:spPr>
          <a:xfrm>
            <a:off x="7403544" y="1770459"/>
            <a:ext cx="3478887" cy="259794"/>
          </a:xfrm>
          <a:prstGeom prst="rect">
            <a:avLst/>
          </a:prstGeom>
          <a:noFill/>
          <a:ln/>
        </p:spPr>
        <p:txBody>
          <a:bodyPr wrap="none" lIns="0" tIns="0" rIns="0" bIns="0" rtlCol="0" anchor="t"/>
          <a:lstStyle/>
          <a:p>
            <a:pPr marL="0" indent="0" algn="l">
              <a:lnSpc>
                <a:spcPts val="2000"/>
              </a:lnSpc>
              <a:buNone/>
            </a:pPr>
            <a:r>
              <a:rPr lang="en-US" sz="1600" dirty="0">
                <a:solidFill>
                  <a:srgbClr val="F9EEE7"/>
                </a:solidFill>
                <a:latin typeface="Quattrocento" pitchFamily="34" charset="0"/>
                <a:ea typeface="Quattrocento" pitchFamily="34" charset="-122"/>
                <a:cs typeface="Quattrocento" pitchFamily="34" charset="-120"/>
              </a:rPr>
              <a:t>How did you counter disagreements?</a:t>
            </a:r>
            <a:endParaRPr lang="en-US" sz="1600" dirty="0"/>
          </a:p>
        </p:txBody>
      </p:sp>
      <p:sp>
        <p:nvSpPr>
          <p:cNvPr id="10" name="Text 6"/>
          <p:cNvSpPr/>
          <p:nvPr/>
        </p:nvSpPr>
        <p:spPr>
          <a:xfrm>
            <a:off x="7403544" y="2136219"/>
            <a:ext cx="6520101" cy="1695926"/>
          </a:xfrm>
          <a:prstGeom prst="rect">
            <a:avLst/>
          </a:prstGeom>
          <a:noFill/>
          <a:ln/>
        </p:spPr>
        <p:txBody>
          <a:bodyPr wrap="square" lIns="0" tIns="0" rIns="0" bIns="0" rtlCol="0" anchor="t"/>
          <a:lstStyle/>
          <a:p>
            <a:pPr marL="0" indent="0" algn="l">
              <a:lnSpc>
                <a:spcPts val="2200"/>
              </a:lnSpc>
              <a:buNone/>
            </a:pPr>
            <a:r>
              <a:rPr lang="en-US" sz="1350" dirty="0">
                <a:solidFill>
                  <a:srgbClr val="F9EEE7"/>
                </a:solidFill>
                <a:latin typeface="Quattrocento" pitchFamily="34" charset="0"/>
                <a:ea typeface="Quattrocento" pitchFamily="34" charset="-122"/>
                <a:cs typeface="Quattrocento" pitchFamily="34" charset="-120"/>
              </a:rPr>
              <a:t>My most analytically crucial disagreement was when I challenged the realism of the high spending in my "Rare Item" model. Questioning it forced me to prove that the long "whisker" on my Box Plot wasn't a coding error, but a deliberate feature that showed the profit gained from targeting high-spending "whales." This was vital because it validated that my project had moved beyond simple math to analyze aggressive, real-world business strategy and risk.</a:t>
            </a:r>
            <a:endParaRPr lang="en-US" sz="1350" dirty="0"/>
          </a:p>
        </p:txBody>
      </p:sp>
      <p:pic>
        <p:nvPicPr>
          <p:cNvPr id="11" name="Image 2" descr="preencoded.png"/>
          <p:cNvPicPr>
            <a:picLocks noChangeAspect="1"/>
          </p:cNvPicPr>
          <p:nvPr/>
        </p:nvPicPr>
        <p:blipFill>
          <a:blip r:embed="rId5"/>
          <a:stretch>
            <a:fillRect/>
          </a:stretch>
        </p:blipFill>
        <p:spPr>
          <a:xfrm>
            <a:off x="706755" y="4141351"/>
            <a:ext cx="176689" cy="220861"/>
          </a:xfrm>
          <a:prstGeom prst="rect">
            <a:avLst/>
          </a:prstGeom>
        </p:spPr>
      </p:pic>
      <p:sp>
        <p:nvSpPr>
          <p:cNvPr id="12" name="Shape 7"/>
          <p:cNvSpPr/>
          <p:nvPr/>
        </p:nvSpPr>
        <p:spPr>
          <a:xfrm>
            <a:off x="706755" y="4418767"/>
            <a:ext cx="6520101" cy="22860"/>
          </a:xfrm>
          <a:prstGeom prst="rect">
            <a:avLst/>
          </a:prstGeom>
          <a:solidFill>
            <a:srgbClr val="EF9C82"/>
          </a:solidFill>
          <a:ln/>
        </p:spPr>
      </p:sp>
      <p:sp>
        <p:nvSpPr>
          <p:cNvPr id="13" name="Text 8"/>
          <p:cNvSpPr/>
          <p:nvPr/>
        </p:nvSpPr>
        <p:spPr>
          <a:xfrm>
            <a:off x="706755" y="4552831"/>
            <a:ext cx="2826068" cy="259794"/>
          </a:xfrm>
          <a:prstGeom prst="rect">
            <a:avLst/>
          </a:prstGeom>
          <a:noFill/>
          <a:ln/>
        </p:spPr>
        <p:txBody>
          <a:bodyPr wrap="none" lIns="0" tIns="0" rIns="0" bIns="0" rtlCol="0" anchor="t"/>
          <a:lstStyle/>
          <a:p>
            <a:pPr marL="0" indent="0" algn="l">
              <a:lnSpc>
                <a:spcPts val="2000"/>
              </a:lnSpc>
              <a:buNone/>
            </a:pPr>
            <a:r>
              <a:rPr lang="en-US" sz="1600" dirty="0">
                <a:solidFill>
                  <a:srgbClr val="F9EEE7"/>
                </a:solidFill>
                <a:latin typeface="Quattrocento" pitchFamily="34" charset="0"/>
                <a:ea typeface="Quattrocento" pitchFamily="34" charset="-122"/>
                <a:cs typeface="Quattrocento" pitchFamily="34" charset="-120"/>
              </a:rPr>
              <a:t>What's next, after this project?</a:t>
            </a:r>
            <a:endParaRPr lang="en-US" sz="1600" dirty="0"/>
          </a:p>
        </p:txBody>
      </p:sp>
      <p:sp>
        <p:nvSpPr>
          <p:cNvPr id="14" name="Text 9"/>
          <p:cNvSpPr/>
          <p:nvPr/>
        </p:nvSpPr>
        <p:spPr>
          <a:xfrm>
            <a:off x="706755" y="4918591"/>
            <a:ext cx="6520101" cy="1130618"/>
          </a:xfrm>
          <a:prstGeom prst="rect">
            <a:avLst/>
          </a:prstGeom>
          <a:noFill/>
          <a:ln/>
        </p:spPr>
        <p:txBody>
          <a:bodyPr wrap="square" lIns="0" tIns="0" rIns="0" bIns="0" rtlCol="0" anchor="t"/>
          <a:lstStyle/>
          <a:p>
            <a:pPr marL="0" indent="0" algn="l">
              <a:lnSpc>
                <a:spcPts val="2200"/>
              </a:lnSpc>
              <a:buNone/>
            </a:pPr>
            <a:r>
              <a:rPr lang="en-US" sz="1350" dirty="0">
                <a:solidFill>
                  <a:srgbClr val="F9EEE7"/>
                </a:solidFill>
                <a:latin typeface="Quattrocento" pitchFamily="34" charset="0"/>
                <a:ea typeface="Quattrocento" pitchFamily="34" charset="-122"/>
                <a:cs typeface="Quattrocento" pitchFamily="34" charset="-120"/>
              </a:rPr>
              <a:t>This project was a masterclass in using AI to rapidly turn a complex theory into a working tool. What's next is applying this exact skill. I now know how to take a concept, create a logical framework, and direct an LLM to build the solution. That's a powerful process I can use on any big data problem.</a:t>
            </a:r>
            <a:endParaRPr lang="en-US" sz="1350" dirty="0"/>
          </a:p>
        </p:txBody>
      </p:sp>
      <p:pic>
        <p:nvPicPr>
          <p:cNvPr id="15" name="Image 3" descr="preencoded.png"/>
          <p:cNvPicPr>
            <a:picLocks noChangeAspect="1"/>
          </p:cNvPicPr>
          <p:nvPr/>
        </p:nvPicPr>
        <p:blipFill>
          <a:blip r:embed="rId6"/>
          <a:stretch>
            <a:fillRect/>
          </a:stretch>
        </p:blipFill>
        <p:spPr>
          <a:xfrm>
            <a:off x="7403544" y="4141351"/>
            <a:ext cx="176689" cy="220861"/>
          </a:xfrm>
          <a:prstGeom prst="rect">
            <a:avLst/>
          </a:prstGeom>
        </p:spPr>
      </p:pic>
      <p:sp>
        <p:nvSpPr>
          <p:cNvPr id="16" name="Shape 10"/>
          <p:cNvSpPr/>
          <p:nvPr/>
        </p:nvSpPr>
        <p:spPr>
          <a:xfrm>
            <a:off x="7403544" y="4418767"/>
            <a:ext cx="6520101" cy="22860"/>
          </a:xfrm>
          <a:prstGeom prst="rect">
            <a:avLst/>
          </a:prstGeom>
          <a:solidFill>
            <a:srgbClr val="EF9C82"/>
          </a:solidFill>
          <a:ln/>
        </p:spPr>
      </p:sp>
      <p:sp>
        <p:nvSpPr>
          <p:cNvPr id="17" name="Text 11"/>
          <p:cNvSpPr/>
          <p:nvPr/>
        </p:nvSpPr>
        <p:spPr>
          <a:xfrm>
            <a:off x="7403544" y="4552831"/>
            <a:ext cx="2898815" cy="259794"/>
          </a:xfrm>
          <a:prstGeom prst="rect">
            <a:avLst/>
          </a:prstGeom>
          <a:noFill/>
          <a:ln/>
        </p:spPr>
        <p:txBody>
          <a:bodyPr wrap="none" lIns="0" tIns="0" rIns="0" bIns="0" rtlCol="0" anchor="t"/>
          <a:lstStyle/>
          <a:p>
            <a:pPr marL="0" indent="0" algn="l">
              <a:lnSpc>
                <a:spcPts val="2000"/>
              </a:lnSpc>
              <a:buNone/>
            </a:pPr>
            <a:r>
              <a:rPr lang="en-US" sz="1600" dirty="0">
                <a:solidFill>
                  <a:srgbClr val="F9EEE7"/>
                </a:solidFill>
                <a:latin typeface="Quattrocento" pitchFamily="34" charset="0"/>
                <a:ea typeface="Quattrocento" pitchFamily="34" charset="-122"/>
                <a:cs typeface="Quattrocento" pitchFamily="34" charset="-120"/>
              </a:rPr>
              <a:t>The euphoric Eureka moment?</a:t>
            </a:r>
            <a:endParaRPr lang="en-US" sz="1600" dirty="0"/>
          </a:p>
        </p:txBody>
      </p:sp>
      <p:sp>
        <p:nvSpPr>
          <p:cNvPr id="18" name="Text 12"/>
          <p:cNvSpPr/>
          <p:nvPr/>
        </p:nvSpPr>
        <p:spPr>
          <a:xfrm>
            <a:off x="7403544" y="4918591"/>
            <a:ext cx="6520101" cy="847963"/>
          </a:xfrm>
          <a:prstGeom prst="rect">
            <a:avLst/>
          </a:prstGeom>
          <a:noFill/>
          <a:ln/>
        </p:spPr>
        <p:txBody>
          <a:bodyPr wrap="square" lIns="0" tIns="0" rIns="0" bIns="0" rtlCol="0" anchor="t"/>
          <a:lstStyle/>
          <a:p>
            <a:pPr marL="0" indent="0" algn="l">
              <a:lnSpc>
                <a:spcPts val="2200"/>
              </a:lnSpc>
              <a:buNone/>
            </a:pPr>
            <a:r>
              <a:rPr lang="en-US" sz="1350" dirty="0">
                <a:solidFill>
                  <a:srgbClr val="F9EEE7"/>
                </a:solidFill>
                <a:latin typeface="Quattrocento" pitchFamily="34" charset="0"/>
                <a:ea typeface="Quattrocento" pitchFamily="34" charset="-122"/>
                <a:cs typeface="Quattrocento" pitchFamily="34" charset="-120"/>
              </a:rPr>
              <a:t>I initially thought I forgot to add the RCT. The "Aha!" moment was realizing my whole Monte Carlo simulation is the RCT, perfectly mimicking a large-scale experiment with every run.</a:t>
            </a:r>
            <a:endParaRPr lang="en-US" sz="1350" dirty="0"/>
          </a:p>
        </p:txBody>
      </p:sp>
      <p:sp>
        <p:nvSpPr>
          <p:cNvPr id="19" name="Shape 13"/>
          <p:cNvSpPr/>
          <p:nvPr/>
        </p:nvSpPr>
        <p:spPr>
          <a:xfrm>
            <a:off x="706755" y="6468788"/>
            <a:ext cx="13216890" cy="29647"/>
          </a:xfrm>
          <a:prstGeom prst="rect">
            <a:avLst/>
          </a:prstGeom>
          <a:solidFill>
            <a:srgbClr val="F9EEE7">
              <a:alpha val="50000"/>
            </a:srgbClr>
          </a:solidFill>
          <a:ln/>
        </p:spPr>
      </p:sp>
      <p:sp>
        <p:nvSpPr>
          <p:cNvPr id="20" name="Text 14"/>
          <p:cNvSpPr/>
          <p:nvPr/>
        </p:nvSpPr>
        <p:spPr>
          <a:xfrm>
            <a:off x="706755" y="6697147"/>
            <a:ext cx="13216890" cy="565309"/>
          </a:xfrm>
          <a:prstGeom prst="rect">
            <a:avLst/>
          </a:prstGeom>
          <a:noFill/>
          <a:ln/>
        </p:spPr>
        <p:txBody>
          <a:bodyPr wrap="square" lIns="0" tIns="0" rIns="0" bIns="0" rtlCol="0" anchor="t"/>
          <a:lstStyle/>
          <a:p>
            <a:pPr marL="0" indent="0" algn="l">
              <a:lnSpc>
                <a:spcPts val="2200"/>
              </a:lnSpc>
              <a:buNone/>
            </a:pPr>
            <a:r>
              <a:rPr lang="en-US" sz="1350" b="1" dirty="0">
                <a:solidFill>
                  <a:srgbClr val="F9EEE7"/>
                </a:solidFill>
                <a:latin typeface="Quattrocento" pitchFamily="34" charset="0"/>
                <a:ea typeface="Quattrocento" pitchFamily="34" charset="-122"/>
                <a:cs typeface="Quattrocento" pitchFamily="34" charset="-120"/>
              </a:rPr>
              <a:t>Final Thought:</a:t>
            </a:r>
            <a:r>
              <a:rPr lang="en-US" sz="1350" dirty="0">
                <a:solidFill>
                  <a:srgbClr val="F9EEE7"/>
                </a:solidFill>
                <a:latin typeface="Quattrocento" pitchFamily="34" charset="0"/>
                <a:ea typeface="Quattrocento" pitchFamily="34" charset="-122"/>
                <a:cs typeface="Quattrocento" pitchFamily="34" charset="-120"/>
              </a:rPr>
              <a:t> I learned that simulation is a powerful way to predict the consequences of a business strategy before it launches. My project shows I can quantify the precise financial trade-off between long-term customer loyalty and aggressive, short-term profit.</a:t>
            </a:r>
            <a:endParaRPr lang="en-US" sz="1350" dirty="0"/>
          </a:p>
        </p:txBody>
      </p:sp>
      <p:sp>
        <p:nvSpPr>
          <p:cNvPr id="21" name="Text 15"/>
          <p:cNvSpPr/>
          <p:nvPr/>
        </p:nvSpPr>
        <p:spPr>
          <a:xfrm>
            <a:off x="706755" y="7461171"/>
            <a:ext cx="13216890" cy="282654"/>
          </a:xfrm>
          <a:prstGeom prst="rect">
            <a:avLst/>
          </a:prstGeom>
          <a:noFill/>
          <a:ln/>
        </p:spPr>
        <p:txBody>
          <a:bodyPr wrap="none" lIns="0" tIns="0" rIns="0" bIns="0" rtlCol="0" anchor="t"/>
          <a:lstStyle/>
          <a:p>
            <a:pPr marL="0" indent="0" algn="r">
              <a:lnSpc>
                <a:spcPts val="2200"/>
              </a:lnSpc>
              <a:buNone/>
            </a:pP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874</Words>
  <Application>Microsoft Office PowerPoint</Application>
  <PresentationFormat>Custom</PresentationFormat>
  <Paragraphs>76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Quattrocento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Praveen Kumar J</cp:lastModifiedBy>
  <cp:revision>4</cp:revision>
  <dcterms:created xsi:type="dcterms:W3CDTF">2025-10-02T21:21:19Z</dcterms:created>
  <dcterms:modified xsi:type="dcterms:W3CDTF">2026-10-06T20:34:20Z</dcterms:modified>
</cp:coreProperties>
</file>